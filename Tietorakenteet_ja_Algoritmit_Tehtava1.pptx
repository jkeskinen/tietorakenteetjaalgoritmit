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9" r:id="rId16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5DE35-BE0B-47F8-B316-FC829EAE6EF3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C9CBD-EB12-4CFD-A29C-D602E51DDFA8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15405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F3660DA-C4D6-459B-5803-22CF1D158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57F8C9B1-F753-A728-1428-D5EB8A870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95E333D-A092-8380-4C47-032A2CEDE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2D8EFE9D-9C4C-D77A-7289-3B2F0617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93A3FFCC-0640-6EE4-9E3E-90DBE86EF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88696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E02957E-9435-B97A-B1BB-57EBBF168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621970F-0DB5-0200-784B-8F4D09385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B8865CBC-ED36-F8F8-84C3-DA2823760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62FB60CC-F6AE-D9F0-66C8-EA7016B99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02E68CF-C4FF-B655-1908-9A31B764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87664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8D151CE-F972-AFA1-FCEB-B594E234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53A3BFE3-2103-FA32-BCC5-A51DDE41E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BF86AD4-392A-3D8C-471A-093D058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3780442-BA07-0CDF-3A10-ACBAB9D86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8C422A0-B8B1-0F78-CE2F-EFE518F2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6958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C2E19B0-7DF6-DF30-8A7C-899CCC6B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774AA8A-9580-DC27-6C4C-9EC777FBA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70004617-C60F-16CB-C33E-AFBAB4BCD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FD66983C-A88B-7FBB-545B-E74CCCA0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59E89191-AE8E-C3CC-B454-72CADA6D3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55146C20-DA6C-807A-9D9E-DF52A1290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7019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34A03CF-BBF3-E99E-5132-B6884893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22CBED78-25C4-9ACA-C8B7-2D382A6D5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0B0050E9-C69E-C120-21FE-04611910F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DEC45B48-A3E5-A620-277A-A99D3ED75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05E0DC5B-4873-AB1E-D54D-F0A4D53A2B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66A8E75A-D02B-AA15-DC10-5DB852B2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A8E9FDD0-3A20-F3C6-8147-7B9D8225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197EE88C-C6B1-8A18-35A8-B15F6447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8717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E67C2E2-52BB-934E-3445-C9D5329D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763D059F-6AC0-0F1D-880F-2F5E73DFC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C701C03C-CBB0-06BD-A243-AD953B9DA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4F2514E4-C55A-5462-EE99-209A91D8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8765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777D7B2C-A803-3C4E-5CA5-5149F4D5E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B23F0057-B2F0-A5DC-43F0-F259EFA7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469218A0-B872-A88F-64B3-D6B568396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6203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DDAF79C-9B11-11D2-B55B-CB0F33A5E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A01C935-7556-5FD0-3503-C5A01A6B8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E6CD9A70-63FE-B403-233A-8BE8F7564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7C146C63-1583-C358-D8C7-82283DCC9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33349B48-A84C-7BB2-2B1A-4E77A386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8D6DBE7D-5014-9D42-FB88-71D6545D5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72927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1C178E0-2BCE-ABD3-BE16-D8E2CA8CE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5803CE44-32AF-1D34-4CE9-29FC3634D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09BD1B54-99CA-E0CA-541F-2709295B5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16FEC816-539D-C3D3-D616-6CC8D0FB6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5F464881-476E-B7C7-F043-9D007417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07EA156-2B2E-6B20-1209-7E7AC756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2774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AA0059C-BAC3-8A14-6B28-CB017174B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59241161-2A36-4919-E5A9-B2AA4B431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6905452A-0B71-5A30-AD48-DE9FDE64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E3067E1A-14D9-4B46-6332-BE49508D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DA35D50-2757-C3A5-4BF7-81839C8A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87581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D5257B52-86F9-F5F8-29A2-011A84F455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3C93990A-6CAA-A79E-715B-BC6E9360B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F8C8AF9-016B-D0CB-98C7-20F7841B2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74240A0-C2FE-6B61-1F1B-A823A3B4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6AFDCEDC-F79A-6116-6877-C81391F9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07102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E087134F-0814-7942-B7F8-84A21B1BE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D452A2EA-CBA0-8CD4-EEF0-298844B75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BE704F1E-AADD-1FE8-6767-5E599626D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701AA-6A6F-404C-BC42-56741A886A7A}" type="datetimeFigureOut">
              <a:rPr lang="fi-FI" smtClean="0"/>
              <a:t>30.1.2026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D14BAF2A-0F54-7671-2FF3-E803B5D0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FAB2012-7659-2496-5B53-24A403842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E077F-D9CB-4062-9876-F1F1366511C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43841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6D25C7E1-375C-11FA-D793-DFA8D5C0E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fi-FI" sz="4800">
                <a:solidFill>
                  <a:srgbClr val="FFFFFF"/>
                </a:solidFill>
              </a:rPr>
              <a:t>Tietorakenteet ja Algoritmit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6D622C45-299E-9271-BBDE-EA35E97DA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fi-FI" dirty="0"/>
              <a:t>1. Harjoitustyö</a:t>
            </a:r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22BCE17-B7C4-E177-30C6-A495ABC79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fi-FI" sz="1100">
                <a:solidFill>
                  <a:srgbClr val="FFFFFF"/>
                </a:solidFill>
              </a:rPr>
              <a:t>Juho Keskinen, Tite24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47F980F-38EC-B714-9D51-18C22706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46837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DC991D95-BE4C-4DC7-9FF4-EEA873F5CA17}" type="datetime1">
              <a:rPr lang="fi-FI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30.1.2026</a:t>
            </a:fld>
            <a:endParaRPr lang="fi-FI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588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61BD9514-0DB7-6F3F-F843-F2B0428F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fi-FI" sz="4000"/>
              <a:t>Tehtävänanto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EAAA6BC-C9CC-1454-5BFC-BB57B0B9F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fi-FI" sz="2000" dirty="0"/>
              <a:t>Tehtävänä oli tehdä vertailuja eri järjestysalgoritmien ajankäytössä.</a:t>
            </a:r>
          </a:p>
          <a:p>
            <a:r>
              <a:rPr lang="fi-FI" sz="2000" dirty="0"/>
              <a:t>Lähdettiin </a:t>
            </a:r>
            <a:r>
              <a:rPr lang="fi-FI" sz="2000" dirty="0" err="1"/>
              <a:t>Bubble</a:t>
            </a:r>
            <a:r>
              <a:rPr lang="fi-FI" sz="2000" dirty="0"/>
              <a:t> Sortilla liikkeelle. Tämän jälkeen lisäsin vertailuun muut  algoritmit. Näitä oli </a:t>
            </a:r>
            <a:r>
              <a:rPr lang="fi-FI" sz="2000" dirty="0" err="1"/>
              <a:t>Insertio</a:t>
            </a:r>
            <a:r>
              <a:rPr lang="fi-FI" sz="2000" dirty="0"/>
              <a:t>-, Shell-,  </a:t>
            </a:r>
            <a:r>
              <a:rPr lang="fi-FI" sz="2000" dirty="0" err="1"/>
              <a:t>Array</a:t>
            </a:r>
            <a:r>
              <a:rPr lang="fi-FI" sz="2000" dirty="0"/>
              <a:t>-, </a:t>
            </a:r>
            <a:r>
              <a:rPr lang="fi-FI" sz="2000" dirty="0" err="1"/>
              <a:t>Quick</a:t>
            </a:r>
            <a:r>
              <a:rPr lang="fi-FI" sz="2000" dirty="0"/>
              <a:t>-, </a:t>
            </a:r>
            <a:r>
              <a:rPr lang="fi-FI" sz="2000" dirty="0" err="1"/>
              <a:t>Selection</a:t>
            </a:r>
            <a:r>
              <a:rPr lang="fi-FI" sz="2000" dirty="0"/>
              <a:t>- ja </a:t>
            </a:r>
            <a:r>
              <a:rPr lang="fi-FI" sz="2000" dirty="0" err="1"/>
              <a:t>Merge</a:t>
            </a:r>
            <a:r>
              <a:rPr lang="fi-FI" sz="2000" dirty="0"/>
              <a:t> </a:t>
            </a:r>
            <a:r>
              <a:rPr lang="fi-FI" sz="2000" dirty="0" err="1"/>
              <a:t>Sort</a:t>
            </a:r>
            <a:endParaRPr lang="fi-FI" sz="2000" dirty="0"/>
          </a:p>
          <a:p>
            <a:r>
              <a:rPr lang="fi-FI" sz="2000" dirty="0"/>
              <a:t> 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Kuva 4" descr="Kuva, joka sisältää kohteen teksti, kuvakaappaus, ohjelmisto, Fontti&#10;&#10;Tekoälyllä luotu sisältö voi olla virheellistä.">
            <a:extLst>
              <a:ext uri="{FF2B5EF4-FFF2-40B4-BE49-F238E27FC236}">
                <a16:creationId xmlns:a16="http://schemas.microsoft.com/office/drawing/2014/main" id="{C40AAE5C-B2B1-73EC-E1D1-25DEB8ABD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962488"/>
            <a:ext cx="4170530" cy="496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73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0AE9B-B703-AAD0-7BD1-CC3B64EDB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A5D017-17C2-E973-E967-2410E9001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40EC195E-4E33-FB2C-2901-319FB2A1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fi-FI" sz="4000"/>
              <a:t>Tehtävänanto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84E2939-DF6E-E459-5A25-F30EA9FD5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 fontScale="47500" lnSpcReduction="20000"/>
          </a:bodyPr>
          <a:lstStyle/>
          <a:p>
            <a:r>
              <a:rPr lang="fi-FI" b="1" dirty="0"/>
              <a:t>O(1) – Vakioaika:</a:t>
            </a:r>
            <a:r>
              <a:rPr lang="fi-FI" dirty="0"/>
              <a:t> Algoritmi valmistuu aina samassa ajassa syötteen koosta riippumatta.</a:t>
            </a:r>
          </a:p>
          <a:p>
            <a:r>
              <a:rPr lang="fi-FI" b="1" dirty="0"/>
              <a:t>O(</a:t>
            </a:r>
            <a:r>
              <a:rPr lang="fi-FI" b="1" dirty="0" err="1"/>
              <a:t>log</a:t>
            </a:r>
            <a:r>
              <a:rPr lang="fi-FI" b="1" dirty="0"/>
              <a:t> n) – logaritminen aika:</a:t>
            </a:r>
            <a:r>
              <a:rPr lang="fi-FI" dirty="0"/>
              <a:t> Kun syötteen koko kasvaa, käyntiaika kasvaa logaritmisesti. Algoritmit, jotka toimivat kahdella jakamisen periaatteella (esimerkiksi binäärihaku), kuuluvat tähän luokkaan.</a:t>
            </a:r>
          </a:p>
          <a:p>
            <a:r>
              <a:rPr lang="fi-FI" b="1" dirty="0"/>
              <a:t>O(n) – lineaarinen aika:</a:t>
            </a:r>
            <a:r>
              <a:rPr lang="fi-FI" dirty="0"/>
              <a:t> Ajoaika kasvaa suhteessa syötteen koon mukaan.</a:t>
            </a:r>
          </a:p>
          <a:p>
            <a:r>
              <a:rPr lang="fi-FI" b="1" dirty="0"/>
              <a:t>O(n </a:t>
            </a:r>
            <a:r>
              <a:rPr lang="fi-FI" b="1" dirty="0" err="1"/>
              <a:t>log</a:t>
            </a:r>
            <a:r>
              <a:rPr lang="fi-FI" b="1" dirty="0"/>
              <a:t> n) – Lineaarinen logaritminen aika:</a:t>
            </a:r>
            <a:r>
              <a:rPr lang="fi-FI" dirty="0"/>
              <a:t> Näytetään yleisesti lajittelualgoritmeissa (esim. yhdistäminen, keon lajittelu).</a:t>
            </a:r>
          </a:p>
          <a:p>
            <a:r>
              <a:rPr lang="fi-FI" b="1" dirty="0"/>
              <a:t>O(n^2) – neliöaika:</a:t>
            </a:r>
            <a:r>
              <a:rPr lang="fi-FI" dirty="0"/>
              <a:t> Ajoaika kasvaa syötteen koon neliön mukaan. Algoritmit, jotka sisältävät sisäkkäisiä silmukoita, kuuluvat tähän luokkaan.</a:t>
            </a:r>
          </a:p>
          <a:p>
            <a:r>
              <a:rPr lang="fi-FI" b="1" dirty="0"/>
              <a:t>O(2^n) – eksponentiaalinen aika:</a:t>
            </a:r>
            <a:r>
              <a:rPr lang="fi-FI" dirty="0"/>
              <a:t> Ajoaika kasvaa syötteen koon eksponentin mukaan. Sitä käytetään usein algoritmeihin, jotka toimivat hyvin hitaasti.</a:t>
            </a:r>
          </a:p>
          <a:p>
            <a:r>
              <a:rPr lang="fi-FI" b="1" dirty="0"/>
              <a:t>O(n!) – </a:t>
            </a:r>
            <a:r>
              <a:rPr lang="fi-FI" b="1" dirty="0" err="1"/>
              <a:t>Factorial</a:t>
            </a:r>
            <a:r>
              <a:rPr lang="fi-FI" b="1" dirty="0"/>
              <a:t> Time:</a:t>
            </a:r>
            <a:r>
              <a:rPr lang="fi-FI" dirty="0"/>
              <a:t> Se on huonoimmin toimiva algoritmityyppi. Jopa pienillä </a:t>
            </a:r>
            <a:r>
              <a:rPr lang="fi-FI" dirty="0" err="1"/>
              <a:t>syöttökooilla</a:t>
            </a:r>
            <a:r>
              <a:rPr lang="fi-FI" dirty="0"/>
              <a:t> se voi kestää hyvin kauan.</a:t>
            </a:r>
          </a:p>
          <a:p>
            <a:r>
              <a:rPr lang="fi-FI" sz="2000" dirty="0"/>
              <a:t> 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6C6DB1-2BF1-4F09-BF7E-E1DD2BA7A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5A6AFE-64AD-8C86-6063-A901DF96D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F41541-D4AC-5DCA-6D97-BEAFE65E5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3C4422-1BE4-2E8F-110F-00AA57849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Kuva 4" descr="Kuva, joka sisältää kohteen teksti, kuvakaappaus, ohjelmisto, Fontti&#10;&#10;Tekoälyllä luotu sisältö voi olla virheellistä.">
            <a:extLst>
              <a:ext uri="{FF2B5EF4-FFF2-40B4-BE49-F238E27FC236}">
                <a16:creationId xmlns:a16="http://schemas.microsoft.com/office/drawing/2014/main" id="{A202328A-1F36-2BCB-78BC-C4B4E6185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962488"/>
            <a:ext cx="4170530" cy="496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C0C8A-20BB-86C6-829F-FBBB74A2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27B409A7-87C3-3DEB-20C6-13052B9C3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fi-FI" sz="4000"/>
              <a:t>Tiedoston rakenne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2411CC9-9DE1-85FB-6A57-55ACD2B4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fi-FI" sz="2000"/>
              <a:t>Loimme satunnaisen arrayn apufunktiolla makeRandomArray</a:t>
            </a:r>
          </a:p>
          <a:p>
            <a:r>
              <a:rPr lang="fi-FI" sz="2000"/>
              <a:t>Jos halusimme tulostaa juuri luodun arrayn, siihen käytimme apufunktiota printArray. Tämä on tällä hetkellä tyhjänpanttina, eikä sitä kutsuta missään koodissa. Tämä on hyvä testivaiheessa olla. 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Kuva 10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8E36C1B4-4374-9AA4-6C6F-CC961173D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364895"/>
            <a:ext cx="4170530" cy="416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8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40263-7708-1A42-8F9B-04B3531EF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C77EC5D5-DBFD-AFA8-702F-36CAB9D02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fi-FI" sz="5400"/>
              <a:t>Bubble Sort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EEE59DE-A685-1295-7FD3-1DB39F89F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fi-FI" sz="2200" dirty="0"/>
              <a:t>  </a:t>
            </a:r>
            <a:r>
              <a:rPr lang="fi-FI" sz="2200" dirty="0" err="1"/>
              <a:t>Bubble</a:t>
            </a:r>
            <a:r>
              <a:rPr lang="fi-FI" sz="2200" dirty="0"/>
              <a:t> Sortin aika 100 000 luvun järjestämiseen. Teoria kertoo että sen nopeus on: O(n^2). </a:t>
            </a:r>
            <a:r>
              <a:rPr lang="fi-FI" sz="2200" dirty="0" err="1"/>
              <a:t>Bubble</a:t>
            </a:r>
            <a:r>
              <a:rPr lang="fi-FI" sz="2200" dirty="0"/>
              <a:t> </a:t>
            </a:r>
            <a:r>
              <a:rPr lang="fi-FI" sz="2200" dirty="0" err="1"/>
              <a:t>Sort</a:t>
            </a:r>
            <a:r>
              <a:rPr lang="fi-FI" sz="2200" dirty="0"/>
              <a:t> käy toistamiseen askelittain listaa, vertaa viereisiin alkioihin ja vaihtaa jos ne on väärässä järjestyksessä.  </a:t>
            </a:r>
            <a:r>
              <a:rPr lang="fi-FI" sz="2200" dirty="0" err="1"/>
              <a:t>Bubble</a:t>
            </a:r>
            <a:r>
              <a:rPr lang="fi-FI" sz="2200" dirty="0"/>
              <a:t> </a:t>
            </a:r>
            <a:r>
              <a:rPr lang="fi-FI" sz="2200" dirty="0" err="1"/>
              <a:t>Sort</a:t>
            </a:r>
            <a:r>
              <a:rPr lang="fi-FI" sz="2200" dirty="0"/>
              <a:t> sopii koulutuskäyttöön esimerkkinä. Testin hitain. 100 000 lukua, 7418ms </a:t>
            </a:r>
            <a:r>
              <a:rPr lang="fi-FI" sz="2200" dirty="0" err="1"/>
              <a:t>vrt</a:t>
            </a:r>
            <a:r>
              <a:rPr lang="fi-FI" sz="2200" dirty="0"/>
              <a:t> nopein  </a:t>
            </a:r>
            <a:r>
              <a:rPr lang="fi-FI" sz="2200" dirty="0" err="1"/>
              <a:t>Quick</a:t>
            </a:r>
            <a:r>
              <a:rPr lang="fi-FI" sz="2200" dirty="0"/>
              <a:t> </a:t>
            </a:r>
            <a:r>
              <a:rPr lang="fi-FI" sz="2200" dirty="0" err="1"/>
              <a:t>Sort</a:t>
            </a:r>
            <a:r>
              <a:rPr lang="fi-FI" sz="2200" dirty="0"/>
              <a:t> 11ms. </a:t>
            </a:r>
          </a:p>
        </p:txBody>
      </p:sp>
      <p:pic>
        <p:nvPicPr>
          <p:cNvPr id="5" name="Kuva 4" descr="Kuva, joka sisältää kohteen teksti, kuvakaappaus, ohjelmisto, Fontti&#10;&#10;Tekoälyllä luotu sisältö voi olla virheellistä.">
            <a:extLst>
              <a:ext uri="{FF2B5EF4-FFF2-40B4-BE49-F238E27FC236}">
                <a16:creationId xmlns:a16="http://schemas.microsoft.com/office/drawing/2014/main" id="{6ACA0AE4-E8A2-B0F9-68C1-FCEA87D04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361" y="329183"/>
            <a:ext cx="2881174" cy="3429969"/>
          </a:xfrm>
          <a:prstGeom prst="rect">
            <a:avLst/>
          </a:prstGeom>
        </p:spPr>
      </p:pic>
      <p:pic>
        <p:nvPicPr>
          <p:cNvPr id="6" name="Kuva 5" descr="Kuva, joka sisältää kohteen teksti, Fontti, kuvakaappaus, muotoilu&#10;&#10;Tekoälyllä luotu sisältö voi olla virheellistä.">
            <a:extLst>
              <a:ext uri="{FF2B5EF4-FFF2-40B4-BE49-F238E27FC236}">
                <a16:creationId xmlns:a16="http://schemas.microsoft.com/office/drawing/2014/main" id="{3F636759-EE16-2FAC-C8F3-6D2B3B42F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794" y="4079193"/>
            <a:ext cx="3172019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73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BF766-A9A7-DEA4-4893-DF8A6E1A5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D22FA1E-E02A-4FC5-BBA6-577D6DA0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05D27520-F270-4F3D-A46E-76A337B6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315529 w 12192000"/>
              <a:gd name="connsiteY0" fmla="*/ 4323896 h 6858000"/>
              <a:gd name="connsiteX1" fmla="*/ 6295588 w 12192000"/>
              <a:gd name="connsiteY1" fmla="*/ 4367579 h 6858000"/>
              <a:gd name="connsiteX2" fmla="*/ 6219229 w 12192000"/>
              <a:gd name="connsiteY2" fmla="*/ 4436818 h 6858000"/>
              <a:gd name="connsiteX3" fmla="*/ 6065687 w 12192000"/>
              <a:gd name="connsiteY3" fmla="*/ 4637204 h 6858000"/>
              <a:gd name="connsiteX4" fmla="*/ 5727387 w 12192000"/>
              <a:gd name="connsiteY4" fmla="*/ 5460076 h 6858000"/>
              <a:gd name="connsiteX5" fmla="*/ 5620972 w 12192000"/>
              <a:gd name="connsiteY5" fmla="*/ 5725836 h 6858000"/>
              <a:gd name="connsiteX6" fmla="*/ 5707795 w 12192000"/>
              <a:gd name="connsiteY6" fmla="*/ 5790089 h 6858000"/>
              <a:gd name="connsiteX7" fmla="*/ 5554627 w 12192000"/>
              <a:gd name="connsiteY7" fmla="*/ 6078873 h 6858000"/>
              <a:gd name="connsiteX8" fmla="*/ 5373489 w 12192000"/>
              <a:gd name="connsiteY8" fmla="*/ 6402408 h 6858000"/>
              <a:gd name="connsiteX9" fmla="*/ 5099999 w 12192000"/>
              <a:gd name="connsiteY9" fmla="*/ 6827527 h 6858000"/>
              <a:gd name="connsiteX10" fmla="*/ 5078133 w 12192000"/>
              <a:gd name="connsiteY10" fmla="*/ 6857998 h 6858000"/>
              <a:gd name="connsiteX11" fmla="*/ 9179960 w 12192000"/>
              <a:gd name="connsiteY11" fmla="*/ 6857998 h 6858000"/>
              <a:gd name="connsiteX12" fmla="*/ 9179960 w 12192000"/>
              <a:gd name="connsiteY12" fmla="*/ 4323896 h 6858000"/>
              <a:gd name="connsiteX13" fmla="*/ 0 w 12192000"/>
              <a:gd name="connsiteY13" fmla="*/ 0 h 6858000"/>
              <a:gd name="connsiteX14" fmla="*/ 5872711 w 12192000"/>
              <a:gd name="connsiteY14" fmla="*/ 0 h 6858000"/>
              <a:gd name="connsiteX15" fmla="*/ 5885421 w 12192000"/>
              <a:gd name="connsiteY15" fmla="*/ 20207 h 6858000"/>
              <a:gd name="connsiteX16" fmla="*/ 5925300 w 12192000"/>
              <a:gd name="connsiteY16" fmla="*/ 48911 h 6858000"/>
              <a:gd name="connsiteX17" fmla="*/ 5940039 w 12192000"/>
              <a:gd name="connsiteY17" fmla="*/ 101212 h 6858000"/>
              <a:gd name="connsiteX18" fmla="*/ 5969942 w 12192000"/>
              <a:gd name="connsiteY18" fmla="*/ 311282 h 6858000"/>
              <a:gd name="connsiteX19" fmla="*/ 5961238 w 12192000"/>
              <a:gd name="connsiteY19" fmla="*/ 357643 h 6858000"/>
              <a:gd name="connsiteX20" fmla="*/ 5917195 w 12192000"/>
              <a:gd name="connsiteY20" fmla="*/ 420369 h 6858000"/>
              <a:gd name="connsiteX21" fmla="*/ 5882753 w 12192000"/>
              <a:gd name="connsiteY21" fmla="*/ 556832 h 6858000"/>
              <a:gd name="connsiteX22" fmla="*/ 5814490 w 12192000"/>
              <a:gd name="connsiteY22" fmla="*/ 757416 h 6858000"/>
              <a:gd name="connsiteX23" fmla="*/ 5780064 w 12192000"/>
              <a:gd name="connsiteY23" fmla="*/ 817804 h 6858000"/>
              <a:gd name="connsiteX24" fmla="*/ 5808232 w 12192000"/>
              <a:gd name="connsiteY24" fmla="*/ 850533 h 6858000"/>
              <a:gd name="connsiteX25" fmla="*/ 5906473 w 12192000"/>
              <a:gd name="connsiteY25" fmla="*/ 1076571 h 6858000"/>
              <a:gd name="connsiteX26" fmla="*/ 5778623 w 12192000"/>
              <a:gd name="connsiteY26" fmla="*/ 1369280 h 6858000"/>
              <a:gd name="connsiteX27" fmla="*/ 5710841 w 12192000"/>
              <a:gd name="connsiteY27" fmla="*/ 1462628 h 6858000"/>
              <a:gd name="connsiteX28" fmla="*/ 5846774 w 12192000"/>
              <a:gd name="connsiteY28" fmla="*/ 1455933 h 6858000"/>
              <a:gd name="connsiteX29" fmla="*/ 5897329 w 12192000"/>
              <a:gd name="connsiteY29" fmla="*/ 1553073 h 6858000"/>
              <a:gd name="connsiteX30" fmla="*/ 5919735 w 12192000"/>
              <a:gd name="connsiteY30" fmla="*/ 1602736 h 6858000"/>
              <a:gd name="connsiteX31" fmla="*/ 6057874 w 12192000"/>
              <a:gd name="connsiteY31" fmla="*/ 1910648 h 6858000"/>
              <a:gd name="connsiteX32" fmla="*/ 6039719 w 12192000"/>
              <a:gd name="connsiteY32" fmla="*/ 2010547 h 6858000"/>
              <a:gd name="connsiteX33" fmla="*/ 5841713 w 12192000"/>
              <a:gd name="connsiteY33" fmla="*/ 2520599 h 6858000"/>
              <a:gd name="connsiteX34" fmla="*/ 6071734 w 12192000"/>
              <a:gd name="connsiteY34" fmla="*/ 2593468 h 6858000"/>
              <a:gd name="connsiteX35" fmla="*/ 6092050 w 12192000"/>
              <a:gd name="connsiteY35" fmla="*/ 2806646 h 6858000"/>
              <a:gd name="connsiteX36" fmla="*/ 6215122 w 12192000"/>
              <a:gd name="connsiteY36" fmla="*/ 3021197 h 6858000"/>
              <a:gd name="connsiteX37" fmla="*/ 6338100 w 12192000"/>
              <a:gd name="connsiteY37" fmla="*/ 3178087 h 6858000"/>
              <a:gd name="connsiteX38" fmla="*/ 6343927 w 12192000"/>
              <a:gd name="connsiteY38" fmla="*/ 3194685 h 6858000"/>
              <a:gd name="connsiteX39" fmla="*/ 6343850 w 12192000"/>
              <a:gd name="connsiteY39" fmla="*/ 3201174 h 6858000"/>
              <a:gd name="connsiteX40" fmla="*/ 6366375 w 12192000"/>
              <a:gd name="connsiteY40" fmla="*/ 3271251 h 6858000"/>
              <a:gd name="connsiteX41" fmla="*/ 6369430 w 12192000"/>
              <a:gd name="connsiteY41" fmla="*/ 3276240 h 6858000"/>
              <a:gd name="connsiteX42" fmla="*/ 6392405 w 12192000"/>
              <a:gd name="connsiteY42" fmla="*/ 3360437 h 6858000"/>
              <a:gd name="connsiteX43" fmla="*/ 6397993 w 12192000"/>
              <a:gd name="connsiteY43" fmla="*/ 3390203 h 6858000"/>
              <a:gd name="connsiteX44" fmla="*/ 6394652 w 12192000"/>
              <a:gd name="connsiteY44" fmla="*/ 3402205 h 6858000"/>
              <a:gd name="connsiteX45" fmla="*/ 6366662 w 12192000"/>
              <a:gd name="connsiteY45" fmla="*/ 3442044 h 6858000"/>
              <a:gd name="connsiteX46" fmla="*/ 6320915 w 12192000"/>
              <a:gd name="connsiteY46" fmla="*/ 3701547 h 6858000"/>
              <a:gd name="connsiteX47" fmla="*/ 6364618 w 12192000"/>
              <a:gd name="connsiteY47" fmla="*/ 3743844 h 6858000"/>
              <a:gd name="connsiteX48" fmla="*/ 6370409 w 12192000"/>
              <a:gd name="connsiteY48" fmla="*/ 3754454 h 6858000"/>
              <a:gd name="connsiteX49" fmla="*/ 6373773 w 12192000"/>
              <a:gd name="connsiteY49" fmla="*/ 3768237 h 6858000"/>
              <a:gd name="connsiteX50" fmla="*/ 6375298 w 12192000"/>
              <a:gd name="connsiteY50" fmla="*/ 3796540 h 6858000"/>
              <a:gd name="connsiteX51" fmla="*/ 6253487 w 12192000"/>
              <a:gd name="connsiteY51" fmla="*/ 3856948 h 6858000"/>
              <a:gd name="connsiteX52" fmla="*/ 6385416 w 12192000"/>
              <a:gd name="connsiteY52" fmla="*/ 4014409 h 6858000"/>
              <a:gd name="connsiteX53" fmla="*/ 6374795 w 12192000"/>
              <a:gd name="connsiteY53" fmla="*/ 4038554 h 6858000"/>
              <a:gd name="connsiteX54" fmla="*/ 6351015 w 12192000"/>
              <a:gd name="connsiteY54" fmla="*/ 4150489 h 6858000"/>
              <a:gd name="connsiteX55" fmla="*/ 6340821 w 12192000"/>
              <a:gd name="connsiteY55" fmla="*/ 4212706 h 6858000"/>
              <a:gd name="connsiteX56" fmla="*/ 12191999 w 12192000"/>
              <a:gd name="connsiteY56" fmla="*/ 4212706 h 6858000"/>
              <a:gd name="connsiteX57" fmla="*/ 12191999 w 12192000"/>
              <a:gd name="connsiteY57" fmla="*/ 0 h 6858000"/>
              <a:gd name="connsiteX58" fmla="*/ 12192000 w 12192000"/>
              <a:gd name="connsiteY58" fmla="*/ 0 h 6858000"/>
              <a:gd name="connsiteX59" fmla="*/ 12192000 w 12192000"/>
              <a:gd name="connsiteY59" fmla="*/ 6858000 h 6858000"/>
              <a:gd name="connsiteX60" fmla="*/ 12191999 w 12192000"/>
              <a:gd name="connsiteY60" fmla="*/ 6858000 h 6858000"/>
              <a:gd name="connsiteX61" fmla="*/ 12191999 w 12192000"/>
              <a:gd name="connsiteY61" fmla="*/ 4323902 h 6858000"/>
              <a:gd name="connsiteX62" fmla="*/ 9307672 w 12192000"/>
              <a:gd name="connsiteY62" fmla="*/ 4323902 h 6858000"/>
              <a:gd name="connsiteX63" fmla="*/ 9307672 w 12192000"/>
              <a:gd name="connsiteY63" fmla="*/ 6858000 h 6858000"/>
              <a:gd name="connsiteX64" fmla="*/ 0 w 12192000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0" h="6858000">
                <a:moveTo>
                  <a:pt x="6315529" y="4323896"/>
                </a:moveTo>
                <a:lnTo>
                  <a:pt x="6295588" y="4367579"/>
                </a:lnTo>
                <a:cubicBezTo>
                  <a:pt x="6278024" y="4397022"/>
                  <a:pt x="6253813" y="4421099"/>
                  <a:pt x="6219229" y="4436818"/>
                </a:cubicBezTo>
                <a:cubicBezTo>
                  <a:pt x="6148079" y="4469666"/>
                  <a:pt x="6116436" y="4572066"/>
                  <a:pt x="6065687" y="4637204"/>
                </a:cubicBezTo>
                <a:cubicBezTo>
                  <a:pt x="5888713" y="4862696"/>
                  <a:pt x="5773979" y="5125824"/>
                  <a:pt x="5727387" y="5460076"/>
                </a:cubicBezTo>
                <a:cubicBezTo>
                  <a:pt x="5714326" y="5552523"/>
                  <a:pt x="5656974" y="5638673"/>
                  <a:pt x="5620972" y="5725836"/>
                </a:cubicBezTo>
                <a:cubicBezTo>
                  <a:pt x="5641553" y="5779043"/>
                  <a:pt x="5738619" y="5631221"/>
                  <a:pt x="5707795" y="5790089"/>
                </a:cubicBezTo>
                <a:cubicBezTo>
                  <a:pt x="5684453" y="5909876"/>
                  <a:pt x="5617437" y="5996827"/>
                  <a:pt x="5554627" y="6078873"/>
                </a:cubicBezTo>
                <a:cubicBezTo>
                  <a:pt x="5482491" y="6172498"/>
                  <a:pt x="5402203" y="6253366"/>
                  <a:pt x="5373489" y="6402408"/>
                </a:cubicBezTo>
                <a:cubicBezTo>
                  <a:pt x="5371924" y="6410357"/>
                  <a:pt x="5276557" y="6577417"/>
                  <a:pt x="5099999" y="6827527"/>
                </a:cubicBezTo>
                <a:lnTo>
                  <a:pt x="5078133" y="6857998"/>
                </a:lnTo>
                <a:lnTo>
                  <a:pt x="9179960" y="6857998"/>
                </a:lnTo>
                <a:lnTo>
                  <a:pt x="9179960" y="4323896"/>
                </a:lnTo>
                <a:close/>
                <a:moveTo>
                  <a:pt x="0" y="0"/>
                </a:moveTo>
                <a:lnTo>
                  <a:pt x="5872711" y="0"/>
                </a:lnTo>
                <a:lnTo>
                  <a:pt x="5885421" y="20207"/>
                </a:lnTo>
                <a:cubicBezTo>
                  <a:pt x="5896481" y="32882"/>
                  <a:pt x="5909484" y="42864"/>
                  <a:pt x="5925300" y="48911"/>
                </a:cubicBezTo>
                <a:cubicBezTo>
                  <a:pt x="5940498" y="54526"/>
                  <a:pt x="5945509" y="75042"/>
                  <a:pt x="5940039" y="101212"/>
                </a:cubicBezTo>
                <a:cubicBezTo>
                  <a:pt x="5921950" y="187894"/>
                  <a:pt x="5936667" y="254951"/>
                  <a:pt x="5969942" y="311282"/>
                </a:cubicBezTo>
                <a:cubicBezTo>
                  <a:pt x="5981709" y="330926"/>
                  <a:pt x="5977292" y="344422"/>
                  <a:pt x="5961238" y="357643"/>
                </a:cubicBezTo>
                <a:cubicBezTo>
                  <a:pt x="5942802" y="372223"/>
                  <a:pt x="5928461" y="393565"/>
                  <a:pt x="5917195" y="420369"/>
                </a:cubicBezTo>
                <a:cubicBezTo>
                  <a:pt x="5898701" y="463685"/>
                  <a:pt x="5889992" y="510050"/>
                  <a:pt x="5882753" y="556832"/>
                </a:cubicBezTo>
                <a:cubicBezTo>
                  <a:pt x="5871511" y="630206"/>
                  <a:pt x="5858246" y="700969"/>
                  <a:pt x="5814490" y="757416"/>
                </a:cubicBezTo>
                <a:cubicBezTo>
                  <a:pt x="5801465" y="774559"/>
                  <a:pt x="5791019" y="796511"/>
                  <a:pt x="5780064" y="817804"/>
                </a:cubicBezTo>
                <a:cubicBezTo>
                  <a:pt x="5783558" y="836359"/>
                  <a:pt x="5792196" y="849005"/>
                  <a:pt x="5808232" y="850533"/>
                </a:cubicBezTo>
                <a:cubicBezTo>
                  <a:pt x="5910296" y="860624"/>
                  <a:pt x="5905771" y="962632"/>
                  <a:pt x="5906473" y="1076571"/>
                </a:cubicBezTo>
                <a:cubicBezTo>
                  <a:pt x="5907545" y="1217584"/>
                  <a:pt x="5849973" y="1296799"/>
                  <a:pt x="5778623" y="1369280"/>
                </a:cubicBezTo>
                <a:cubicBezTo>
                  <a:pt x="5754207" y="1393852"/>
                  <a:pt x="5718605" y="1401742"/>
                  <a:pt x="5710841" y="1462628"/>
                </a:cubicBezTo>
                <a:cubicBezTo>
                  <a:pt x="5753463" y="1508141"/>
                  <a:pt x="5802053" y="1451295"/>
                  <a:pt x="5846774" y="1455933"/>
                </a:cubicBezTo>
                <a:cubicBezTo>
                  <a:pt x="5883727" y="1460129"/>
                  <a:pt x="5943609" y="1438568"/>
                  <a:pt x="5897329" y="1553073"/>
                </a:cubicBezTo>
                <a:cubicBezTo>
                  <a:pt x="5883856" y="1586627"/>
                  <a:pt x="5901366" y="1604100"/>
                  <a:pt x="5919735" y="1602736"/>
                </a:cubicBezTo>
                <a:cubicBezTo>
                  <a:pt x="6068526" y="1589022"/>
                  <a:pt x="6006837" y="1813624"/>
                  <a:pt x="6057874" y="1910648"/>
                </a:cubicBezTo>
                <a:cubicBezTo>
                  <a:pt x="6072264" y="1936644"/>
                  <a:pt x="6059978" y="1992417"/>
                  <a:pt x="6039719" y="2010547"/>
                </a:cubicBezTo>
                <a:cubicBezTo>
                  <a:pt x="5911143" y="2127229"/>
                  <a:pt x="5899692" y="2331836"/>
                  <a:pt x="5841713" y="2520599"/>
                </a:cubicBezTo>
                <a:cubicBezTo>
                  <a:pt x="5912636" y="2572423"/>
                  <a:pt x="5995799" y="2566926"/>
                  <a:pt x="6071734" y="2593468"/>
                </a:cubicBezTo>
                <a:cubicBezTo>
                  <a:pt x="6150607" y="2620843"/>
                  <a:pt x="6151703" y="2655507"/>
                  <a:pt x="6092050" y="2806646"/>
                </a:cubicBezTo>
                <a:cubicBezTo>
                  <a:pt x="6259331" y="2795420"/>
                  <a:pt x="6259331" y="2795420"/>
                  <a:pt x="6215122" y="3021197"/>
                </a:cubicBezTo>
                <a:cubicBezTo>
                  <a:pt x="6259035" y="3016573"/>
                  <a:pt x="6302431" y="3085300"/>
                  <a:pt x="6338100" y="3178087"/>
                </a:cubicBezTo>
                <a:lnTo>
                  <a:pt x="6343927" y="3194685"/>
                </a:lnTo>
                <a:lnTo>
                  <a:pt x="6343850" y="3201174"/>
                </a:lnTo>
                <a:cubicBezTo>
                  <a:pt x="6346866" y="3232770"/>
                  <a:pt x="6355995" y="3253323"/>
                  <a:pt x="6366375" y="3271251"/>
                </a:cubicBezTo>
                <a:lnTo>
                  <a:pt x="6369430" y="3276240"/>
                </a:lnTo>
                <a:lnTo>
                  <a:pt x="6392405" y="3360437"/>
                </a:lnTo>
                <a:lnTo>
                  <a:pt x="6397993" y="3390203"/>
                </a:lnTo>
                <a:lnTo>
                  <a:pt x="6394652" y="3402205"/>
                </a:lnTo>
                <a:cubicBezTo>
                  <a:pt x="6388505" y="3414621"/>
                  <a:pt x="6379344" y="3427747"/>
                  <a:pt x="6366662" y="3442044"/>
                </a:cubicBezTo>
                <a:cubicBezTo>
                  <a:pt x="6239481" y="3584662"/>
                  <a:pt x="6224938" y="3605480"/>
                  <a:pt x="6320915" y="3701547"/>
                </a:cubicBezTo>
                <a:lnTo>
                  <a:pt x="6364618" y="3743844"/>
                </a:lnTo>
                <a:lnTo>
                  <a:pt x="6370409" y="3754454"/>
                </a:lnTo>
                <a:lnTo>
                  <a:pt x="6373773" y="3768237"/>
                </a:lnTo>
                <a:cubicBezTo>
                  <a:pt x="6374277" y="3777528"/>
                  <a:pt x="6374207" y="3788146"/>
                  <a:pt x="6375298" y="3796540"/>
                </a:cubicBezTo>
                <a:cubicBezTo>
                  <a:pt x="6339717" y="3831045"/>
                  <a:pt x="6294642" y="3774365"/>
                  <a:pt x="6253487" y="3856948"/>
                </a:cubicBezTo>
                <a:lnTo>
                  <a:pt x="6385416" y="4014409"/>
                </a:lnTo>
                <a:lnTo>
                  <a:pt x="6374795" y="4038554"/>
                </a:lnTo>
                <a:cubicBezTo>
                  <a:pt x="6363579" y="4073249"/>
                  <a:pt x="6356895" y="4111559"/>
                  <a:pt x="6351015" y="4150489"/>
                </a:cubicBezTo>
                <a:lnTo>
                  <a:pt x="6340821" y="4212706"/>
                </a:lnTo>
                <a:lnTo>
                  <a:pt x="12191999" y="4212706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12191999" y="4323902"/>
                </a:lnTo>
                <a:lnTo>
                  <a:pt x="9307672" y="4323902"/>
                </a:lnTo>
                <a:lnTo>
                  <a:pt x="93076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386A6A84-1812-0812-93AE-AC496F77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47"/>
            <a:ext cx="4347949" cy="694380"/>
          </a:xfrm>
        </p:spPr>
        <p:txBody>
          <a:bodyPr anchor="b">
            <a:normAutofit fontScale="90000"/>
          </a:bodyPr>
          <a:lstStyle/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23171DD-DBC3-68FA-F67D-D9BA5B71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62074"/>
            <a:ext cx="4347948" cy="3495178"/>
          </a:xfrm>
        </p:spPr>
        <p:txBody>
          <a:bodyPr>
            <a:normAutofit lnSpcReduction="10000"/>
          </a:bodyPr>
          <a:lstStyle/>
          <a:p>
            <a:r>
              <a:rPr lang="fi-FI" sz="1700" dirty="0" err="1"/>
              <a:t>Insertion</a:t>
            </a:r>
            <a:r>
              <a:rPr lang="fi-FI" sz="1700" dirty="0"/>
              <a:t> </a:t>
            </a:r>
            <a:r>
              <a:rPr lang="fi-FI" sz="1700" dirty="0" err="1"/>
              <a:t>Sort</a:t>
            </a:r>
            <a:r>
              <a:rPr lang="fi-FI" sz="1700" dirty="0"/>
              <a:t>. </a:t>
            </a:r>
          </a:p>
          <a:p>
            <a:r>
              <a:rPr lang="fi-FI" sz="1700" dirty="0"/>
              <a:t>Teoria kertoo että sen nopeus on: O(n^2).</a:t>
            </a:r>
          </a:p>
          <a:p>
            <a:r>
              <a:rPr lang="fi-FI" sz="1700" dirty="0"/>
              <a:t>Toiminta:</a:t>
            </a:r>
          </a:p>
          <a:p>
            <a:pPr lvl="1"/>
            <a:r>
              <a:rPr lang="fi-FI" sz="1700" dirty="0"/>
              <a:t> </a:t>
            </a:r>
            <a:r>
              <a:rPr lang="fi-FI" sz="1700" dirty="0" err="1"/>
              <a:t>Insertion</a:t>
            </a:r>
            <a:r>
              <a:rPr lang="fi-FI" sz="1700" dirty="0"/>
              <a:t> </a:t>
            </a:r>
            <a:r>
              <a:rPr lang="fi-FI" sz="1700" dirty="0" err="1"/>
              <a:t>Sort</a:t>
            </a:r>
            <a:r>
              <a:rPr lang="fi-FI" sz="1700" dirty="0"/>
              <a:t> järjestämisalgoritmi muistuttaa ihmistä, joka järjestää pokeripelissä kortteja kädessä. </a:t>
            </a:r>
            <a:r>
              <a:rPr lang="fi-FI" sz="1700" dirty="0" err="1"/>
              <a:t>Array</a:t>
            </a:r>
            <a:r>
              <a:rPr lang="fi-FI" sz="1700" dirty="0"/>
              <a:t> jakaa virtuaalisesti </a:t>
            </a:r>
            <a:r>
              <a:rPr lang="fi-FI" sz="1700" dirty="0" err="1"/>
              <a:t>Sorted</a:t>
            </a:r>
            <a:r>
              <a:rPr lang="fi-FI" sz="1700" dirty="0"/>
              <a:t> ja </a:t>
            </a:r>
            <a:r>
              <a:rPr lang="fi-FI" sz="1700" dirty="0" err="1"/>
              <a:t>Unsorted</a:t>
            </a:r>
            <a:r>
              <a:rPr lang="fi-FI" sz="1700" dirty="0"/>
              <a:t>-osioihin. Arvot </a:t>
            </a:r>
            <a:r>
              <a:rPr lang="fi-FI" sz="1700" dirty="0" err="1"/>
              <a:t>unsorted</a:t>
            </a:r>
            <a:r>
              <a:rPr lang="fi-FI" sz="1700" dirty="0"/>
              <a:t> puolella poimitaan ja siirretään </a:t>
            </a:r>
            <a:r>
              <a:rPr lang="fi-FI" sz="1700" dirty="0" err="1"/>
              <a:t>sorted</a:t>
            </a:r>
            <a:r>
              <a:rPr lang="fi-FI" sz="1700" dirty="0"/>
              <a:t>-puolelle.</a:t>
            </a:r>
            <a:endParaRPr lang="fi-FI" sz="1300" dirty="0"/>
          </a:p>
          <a:p>
            <a:r>
              <a:rPr lang="fi-FI" sz="2500" dirty="0"/>
              <a:t>Nopeus: O(n^2) </a:t>
            </a:r>
          </a:p>
          <a:p>
            <a:r>
              <a:rPr lang="fi-FI" sz="2500" dirty="0"/>
              <a:t>1388ms (100 000)</a:t>
            </a:r>
          </a:p>
          <a:p>
            <a:endParaRPr lang="fi-FI" sz="2500" dirty="0"/>
          </a:p>
        </p:txBody>
      </p:sp>
      <p:pic>
        <p:nvPicPr>
          <p:cNvPr id="7" name="Kuva 6" descr="Kuva, joka sisältää kohteen teksti, kuvakaappaus, ohjelmisto, Fontti&#10;&#10;Tekoälyllä luotu sisältö voi olla virheellistä.">
            <a:extLst>
              <a:ext uri="{FF2B5EF4-FFF2-40B4-BE49-F238E27FC236}">
                <a16:creationId xmlns:a16="http://schemas.microsoft.com/office/drawing/2014/main" id="{8D83AC1E-B703-AE47-9DB8-F10345E54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417" y="556076"/>
            <a:ext cx="4009137" cy="3217333"/>
          </a:xfrm>
          <a:prstGeom prst="rect">
            <a:avLst/>
          </a:prstGeom>
        </p:spPr>
      </p:pic>
      <p:pic>
        <p:nvPicPr>
          <p:cNvPr id="6" name="Kuva 5" descr="Kuva, joka sisältää kohteen teksti, Fontti, kuvakaappaus, muotoilu&#10;&#10;Tekoälyllä luotu sisältö voi olla virheellistä.">
            <a:extLst>
              <a:ext uri="{FF2B5EF4-FFF2-40B4-BE49-F238E27FC236}">
                <a16:creationId xmlns:a16="http://schemas.microsoft.com/office/drawing/2014/main" id="{F5433127-0FC0-8F75-8BD2-FA92C669C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860" y="4653503"/>
            <a:ext cx="2402652" cy="1648422"/>
          </a:xfrm>
          <a:prstGeom prst="rect">
            <a:avLst/>
          </a:prstGeom>
        </p:spPr>
      </p:pic>
      <p:pic>
        <p:nvPicPr>
          <p:cNvPr id="9" name="Kuva 8" descr="Kuva, joka sisältää kohteen teksti, kuvakaappaus, Fontti, muotoilu&#10;&#10;Tekoälyllä luotu sisältö voi olla virheellistä.">
            <a:extLst>
              <a:ext uri="{FF2B5EF4-FFF2-40B4-BE49-F238E27FC236}">
                <a16:creationId xmlns:a16="http://schemas.microsoft.com/office/drawing/2014/main" id="{0DE78080-39E4-C48A-97B2-A779E429E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957" y="4653502"/>
            <a:ext cx="1633988" cy="166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5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45196-E4E4-5763-D7E9-F7B35996B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55C21DEC-9E9E-3194-DB13-D9E2BAC0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fi-FI" sz="5400"/>
              <a:t>Selection Sort</a:t>
            </a:r>
            <a:endParaRPr lang="fi-FI" sz="5400" dirty="0"/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2B44E0E-4DD1-0109-4BA9-723F212FC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 fontScale="70000" lnSpcReduction="20000"/>
          </a:bodyPr>
          <a:lstStyle/>
          <a:p>
            <a:r>
              <a:rPr lang="fi-FI" sz="2000"/>
              <a:t>Selection Sort. </a:t>
            </a:r>
          </a:p>
          <a:p>
            <a:r>
              <a:rPr lang="fi-FI" sz="2000"/>
              <a:t>Teoria kertoo että sen nopeus on parhaassa tapauksessa O(n^2), eikä se riipu arrayn järjestyksestä.</a:t>
            </a:r>
          </a:p>
          <a:p>
            <a:r>
              <a:rPr lang="fi-FI" sz="2000"/>
              <a:t>Toiminta:</a:t>
            </a:r>
          </a:p>
          <a:p>
            <a:pPr fontAlgn="base"/>
            <a:r>
              <a:rPr lang="en-US" b="1"/>
              <a:t>Selection Sort</a:t>
            </a:r>
            <a:r>
              <a:rPr lang="en-US"/>
              <a:t> on vertailupohjainen järjestämis-algoritmi. </a:t>
            </a:r>
            <a:r>
              <a:rPr lang="fi-FI"/>
              <a:t>Se lajittelee valitsemalla toistuvasti pienimmän (tai suurimman) alkion lajittelemattomasta osasta ja vaihtaa sen ensimmäiseen lajittelemattomaan alkioon. Algoritmi jatkaa tätä, kunnes kaikki elementit on saatu järjestykseen.</a:t>
            </a:r>
          </a:p>
          <a:p>
            <a:pPr fontAlgn="base"/>
            <a:r>
              <a:rPr lang="fi-FI" sz="2000"/>
              <a:t>Nopeus: O(n^2) Kaksi sisäistä silmukkaa</a:t>
            </a:r>
          </a:p>
          <a:p>
            <a:r>
              <a:rPr lang="fi-FI" sz="2000"/>
              <a:t>1374ms (100 000)</a:t>
            </a:r>
          </a:p>
          <a:p>
            <a:r>
              <a:rPr lang="fi-FI" sz="2000"/>
              <a:t>Ei vie muistia, koska ei tee memory swappeja -&gt; jos muistia rajoitetusti, tämä on hyvä ratkaisu siihen. Hitaus on vain ongelma tässäkin algoritmissa. Tämä oli kolmas ja viimeinen tämän harjoitustyön hitaimmista järjestämisalgoritmeistä.</a:t>
            </a:r>
          </a:p>
          <a:p>
            <a:endParaRPr lang="fi-FI" sz="2000"/>
          </a:p>
          <a:p>
            <a:endParaRPr lang="fi-FI" sz="2000" dirty="0"/>
          </a:p>
        </p:txBody>
      </p:sp>
      <p:pic>
        <p:nvPicPr>
          <p:cNvPr id="5" name="Kuva 4" descr="Kuva, joka sisältää kohteen teksti, kuvakaappaus, ohjelmisto&#10;&#10;Tekoälyllä luotu sisältö voi olla virheellistä.">
            <a:extLst>
              <a:ext uri="{FF2B5EF4-FFF2-40B4-BE49-F238E27FC236}">
                <a16:creationId xmlns:a16="http://schemas.microsoft.com/office/drawing/2014/main" id="{CE5776CE-95CC-F362-03CC-5BFE0DEC3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961" y="329183"/>
            <a:ext cx="2743974" cy="3429969"/>
          </a:xfrm>
          <a:prstGeom prst="rect">
            <a:avLst/>
          </a:prstGeom>
        </p:spPr>
      </p:pic>
      <p:pic>
        <p:nvPicPr>
          <p:cNvPr id="6" name="Kuva 5" descr="Kuva, joka sisältää kohteen teksti, Fontti, kuvakaappaus, muotoilu&#10;&#10;Tekoälyllä luotu sisältö voi olla virheellistä.">
            <a:extLst>
              <a:ext uri="{FF2B5EF4-FFF2-40B4-BE49-F238E27FC236}">
                <a16:creationId xmlns:a16="http://schemas.microsoft.com/office/drawing/2014/main" id="{157B37AF-489C-5EC5-0CC7-3AA06AA71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794" y="4079193"/>
            <a:ext cx="3172019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93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B0294-3288-0F77-BB25-63D148BC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1">
            <a:extLst>
              <a:ext uri="{FF2B5EF4-FFF2-40B4-BE49-F238E27FC236}">
                <a16:creationId xmlns:a16="http://schemas.microsoft.com/office/drawing/2014/main" id="{76024B02-E9DE-461A-8C2D-5D6D34764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D799CBB3-DD7E-7C89-C389-A3DB16B43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6928"/>
            <a:ext cx="4572000" cy="1161288"/>
          </a:xfrm>
        </p:spPr>
        <p:txBody>
          <a:bodyPr anchor="b">
            <a:normAutofit/>
          </a:bodyPr>
          <a:lstStyle/>
          <a:p>
            <a:r>
              <a:rPr lang="fi-FI" sz="3600"/>
              <a:t>Nopeimmat algoritmit</a:t>
            </a:r>
            <a:br>
              <a:rPr lang="fi-FI" sz="3600"/>
            </a:br>
            <a:endParaRPr lang="fi-FI" sz="360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21298FE-6F24-AC71-A026-27F83C9C6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4572000" cy="3776472"/>
          </a:xfrm>
        </p:spPr>
        <p:txBody>
          <a:bodyPr>
            <a:normAutofit/>
          </a:bodyPr>
          <a:lstStyle/>
          <a:p>
            <a:r>
              <a:rPr lang="fi-FI" sz="1500" b="1" dirty="0" err="1"/>
              <a:t>Array</a:t>
            </a:r>
            <a:r>
              <a:rPr lang="fi-FI" sz="1500" b="1" dirty="0"/>
              <a:t> </a:t>
            </a:r>
            <a:r>
              <a:rPr lang="fi-FI" sz="1500" b="1" dirty="0" err="1"/>
              <a:t>Sort</a:t>
            </a:r>
            <a:endParaRPr lang="fi-FI" sz="1500" b="1" dirty="0"/>
          </a:p>
          <a:p>
            <a:r>
              <a:rPr lang="fi-FI" sz="1500" dirty="0"/>
              <a:t>Nopeus yleisesti ottaen 0(n </a:t>
            </a:r>
            <a:r>
              <a:rPr lang="fi-FI" sz="1500" dirty="0" err="1"/>
              <a:t>log</a:t>
            </a:r>
            <a:r>
              <a:rPr lang="fi-FI" sz="1500" dirty="0"/>
              <a:t>(n)) </a:t>
            </a:r>
          </a:p>
          <a:p>
            <a:r>
              <a:rPr lang="fi-FI" sz="1500" dirty="0"/>
              <a:t>Toiminta: järjestää taulukon luonnolliseen nousevaan järjestykseen (pienemmästä suurimpaan).</a:t>
            </a:r>
          </a:p>
          <a:p>
            <a:pPr fontAlgn="base"/>
            <a:r>
              <a:rPr lang="fi-FI" sz="1500" dirty="0"/>
              <a:t>On </a:t>
            </a:r>
            <a:r>
              <a:rPr lang="fi-FI" sz="1500" dirty="0" err="1"/>
              <a:t>quicksort</a:t>
            </a:r>
            <a:r>
              <a:rPr lang="fi-FI" sz="1500" dirty="0"/>
              <a:t>-tyyppinen. Käyttää kahta pivot-pointtia.</a:t>
            </a:r>
          </a:p>
          <a:p>
            <a:r>
              <a:rPr lang="fi-FI" sz="1500" dirty="0"/>
              <a:t>18ms (100 000)</a:t>
            </a:r>
          </a:p>
          <a:p>
            <a:r>
              <a:rPr lang="fi-FI" sz="1500" dirty="0"/>
              <a:t>Netistä löytyi hyvä tutkimus tähän liittyen:</a:t>
            </a:r>
          </a:p>
          <a:p>
            <a:pPr lvl="1"/>
            <a:r>
              <a:rPr lang="fi-FI" sz="1100" dirty="0"/>
              <a:t>https://semflajolet.math.cnrs.fr/wp-content/uploads/2022/03/Nebel-slides-IHP.pdf</a:t>
            </a:r>
          </a:p>
        </p:txBody>
      </p:sp>
      <p:pic>
        <p:nvPicPr>
          <p:cNvPr id="7" name="Kuva 6" descr="Kuva, joka sisältää kohteen teksti, Fontti, kuvakaappaus, muotoilu&#10;&#10;Tekoälyllä luotu sisältö voi olla virheellistä.">
            <a:extLst>
              <a:ext uri="{FF2B5EF4-FFF2-40B4-BE49-F238E27FC236}">
                <a16:creationId xmlns:a16="http://schemas.microsoft.com/office/drawing/2014/main" id="{6A1C32E3-27F8-777C-86C4-CBD571385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882" y="1105505"/>
            <a:ext cx="2236504" cy="1975710"/>
          </a:xfrm>
          <a:prstGeom prst="rect">
            <a:avLst/>
          </a:prstGeom>
        </p:spPr>
      </p:pic>
      <p:pic>
        <p:nvPicPr>
          <p:cNvPr id="9" name="Kuva 8" descr="Kuva, joka sisältää kohteen teksti, kuvakaappaus, ohjelmisto, näyttö&#10;&#10;Tekoälyllä luotu sisältö voi olla virheellistä.">
            <a:extLst>
              <a:ext uri="{FF2B5EF4-FFF2-40B4-BE49-F238E27FC236}">
                <a16:creationId xmlns:a16="http://schemas.microsoft.com/office/drawing/2014/main" id="{3D2EE357-939B-EA4C-D72E-3CB3B1D5E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143" y="1105505"/>
            <a:ext cx="3740564" cy="2814773"/>
          </a:xfrm>
          <a:prstGeom prst="rect">
            <a:avLst/>
          </a:prstGeom>
        </p:spPr>
      </p:pic>
      <p:pic>
        <p:nvPicPr>
          <p:cNvPr id="11" name="Kuva 10" descr="Kuva, joka sisältää kohteen teksti, kuvakaappaus, viiva, Fontti&#10;&#10;Tekoälyllä luotu sisältö voi olla virheellistä.">
            <a:extLst>
              <a:ext uri="{FF2B5EF4-FFF2-40B4-BE49-F238E27FC236}">
                <a16:creationId xmlns:a16="http://schemas.microsoft.com/office/drawing/2014/main" id="{420A9DD4-640D-5DBC-78DE-D9B8E0ED6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402" y="4234563"/>
            <a:ext cx="2670047" cy="642461"/>
          </a:xfrm>
          <a:prstGeom prst="rect">
            <a:avLst/>
          </a:prstGeom>
        </p:spPr>
      </p:pic>
      <p:pic>
        <p:nvPicPr>
          <p:cNvPr id="13" name="Kuva 12" descr="Kuva, joka sisältää kohteen teksti, kuvakaappaus, Fontti, ohjelmisto&#10;&#10;Tekoälyllä luotu sisältö voi olla virheellistä.">
            <a:extLst>
              <a:ext uri="{FF2B5EF4-FFF2-40B4-BE49-F238E27FC236}">
                <a16:creationId xmlns:a16="http://schemas.microsoft.com/office/drawing/2014/main" id="{A4DB7AD5-02CD-2821-7E30-7867B4C6F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3556712"/>
            <a:ext cx="2670048" cy="1993999"/>
          </a:xfrm>
          <a:prstGeom prst="rect">
            <a:avLst/>
          </a:prstGeom>
        </p:spPr>
      </p:pic>
      <p:sp>
        <p:nvSpPr>
          <p:cNvPr id="98" name="Rectangle 93">
            <a:extLst>
              <a:ext uri="{FF2B5EF4-FFF2-40B4-BE49-F238E27FC236}">
                <a16:creationId xmlns:a16="http://schemas.microsoft.com/office/drawing/2014/main" id="{57AF882C-175B-49BE-9BF5-D081F17D2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3090662-CAD4-4A54-9F26-DF4753B5E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96768" y="3817404"/>
            <a:ext cx="54864" cy="45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973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5F188-35F5-EB3B-F406-E218C10B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1">
            <a:extLst>
              <a:ext uri="{FF2B5EF4-FFF2-40B4-BE49-F238E27FC236}">
                <a16:creationId xmlns:a16="http://schemas.microsoft.com/office/drawing/2014/main" id="{CB13428C-2503-0A1E-D8D1-98A11E218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2AE68C1F-985B-0BB3-B1EB-50FC42696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6928"/>
            <a:ext cx="4572000" cy="1161288"/>
          </a:xfrm>
        </p:spPr>
        <p:txBody>
          <a:bodyPr anchor="b">
            <a:normAutofit/>
          </a:bodyPr>
          <a:lstStyle/>
          <a:p>
            <a:r>
              <a:rPr lang="fi-FI" sz="3600"/>
              <a:t>Nopeimmat algoritmit</a:t>
            </a:r>
            <a:br>
              <a:rPr lang="fi-FI" sz="3600"/>
            </a:br>
            <a:endParaRPr lang="fi-FI" sz="360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4734005-6730-0C96-E275-075C3EBBF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4572000" cy="3776472"/>
          </a:xfrm>
        </p:spPr>
        <p:txBody>
          <a:bodyPr>
            <a:normAutofit/>
          </a:bodyPr>
          <a:lstStyle/>
          <a:p>
            <a:r>
              <a:rPr lang="fi-FI" sz="1500" b="1" dirty="0" err="1"/>
              <a:t>Array</a:t>
            </a:r>
            <a:r>
              <a:rPr lang="fi-FI" sz="1500" b="1" dirty="0"/>
              <a:t> </a:t>
            </a:r>
            <a:r>
              <a:rPr lang="fi-FI" sz="1500" b="1" dirty="0" err="1"/>
              <a:t>Sort</a:t>
            </a:r>
            <a:r>
              <a:rPr lang="fi-FI" sz="1500" b="1" dirty="0"/>
              <a:t> DESC</a:t>
            </a:r>
          </a:p>
          <a:p>
            <a:r>
              <a:rPr lang="fi-FI" sz="1500" dirty="0"/>
              <a:t>Nopeus yleisesti ottaen 0(n </a:t>
            </a:r>
            <a:r>
              <a:rPr lang="fi-FI" sz="1500" dirty="0" err="1"/>
              <a:t>log</a:t>
            </a:r>
            <a:r>
              <a:rPr lang="fi-FI" sz="1500" dirty="0"/>
              <a:t>(n)) </a:t>
            </a:r>
          </a:p>
          <a:p>
            <a:r>
              <a:rPr lang="fi-FI" sz="1500" dirty="0"/>
              <a:t>Toiminta: Järjestää 2 pivot pointin avulla käänteiseen järjestykseen luvut</a:t>
            </a:r>
          </a:p>
          <a:p>
            <a:r>
              <a:rPr lang="fi-FI" sz="1500" dirty="0"/>
              <a:t>On </a:t>
            </a:r>
            <a:r>
              <a:rPr lang="fi-FI" sz="1500" dirty="0" err="1"/>
              <a:t>quicksort</a:t>
            </a:r>
            <a:r>
              <a:rPr lang="fi-FI" sz="1500" dirty="0"/>
              <a:t>-tyyppinen. Käyttää kahta pivot-pointtia.</a:t>
            </a:r>
          </a:p>
          <a:p>
            <a:r>
              <a:rPr lang="fi-FI" sz="1500" dirty="0"/>
              <a:t>18ms (100 000)</a:t>
            </a:r>
          </a:p>
          <a:p>
            <a:r>
              <a:rPr lang="fi-FI" sz="1500" dirty="0"/>
              <a:t>Netistä löytyi hyvä tutkimus tähän liittyen:</a:t>
            </a:r>
          </a:p>
          <a:p>
            <a:pPr lvl="1"/>
            <a:r>
              <a:rPr lang="fi-FI" sz="1100" dirty="0"/>
              <a:t>https://semflajolet.math.cnrs.fr/wp-content/uploads/2022/03/Nebel-slides-IHP.pdf</a:t>
            </a:r>
          </a:p>
        </p:txBody>
      </p:sp>
      <p:pic>
        <p:nvPicPr>
          <p:cNvPr id="7" name="Kuva 6" descr="Kuva, joka sisältää kohteen teksti, Fontti, kuvakaappaus, muotoilu&#10;&#10;Tekoälyllä luotu sisältö voi olla virheellistä.">
            <a:extLst>
              <a:ext uri="{FF2B5EF4-FFF2-40B4-BE49-F238E27FC236}">
                <a16:creationId xmlns:a16="http://schemas.microsoft.com/office/drawing/2014/main" id="{C97E0ED4-06BB-D9D2-714A-070CC7814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882" y="1105505"/>
            <a:ext cx="2236504" cy="1975710"/>
          </a:xfrm>
          <a:prstGeom prst="rect">
            <a:avLst/>
          </a:prstGeom>
        </p:spPr>
      </p:pic>
      <p:pic>
        <p:nvPicPr>
          <p:cNvPr id="9" name="Kuva 8" descr="Kuva, joka sisältää kohteen teksti, kuvakaappaus, ohjelmisto, näyttö&#10;&#10;Tekoälyllä luotu sisältö voi olla virheellistä.">
            <a:extLst>
              <a:ext uri="{FF2B5EF4-FFF2-40B4-BE49-F238E27FC236}">
                <a16:creationId xmlns:a16="http://schemas.microsoft.com/office/drawing/2014/main" id="{027EF632-FB6E-13BA-56B3-601760807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143" y="1105505"/>
            <a:ext cx="3740564" cy="2814773"/>
          </a:xfrm>
          <a:prstGeom prst="rect">
            <a:avLst/>
          </a:prstGeom>
        </p:spPr>
      </p:pic>
      <p:pic>
        <p:nvPicPr>
          <p:cNvPr id="11" name="Kuva 10" descr="Kuva, joka sisältää kohteen teksti, kuvakaappaus, viiva, Fontti&#10;&#10;Tekoälyllä luotu sisältö voi olla virheellistä.">
            <a:extLst>
              <a:ext uri="{FF2B5EF4-FFF2-40B4-BE49-F238E27FC236}">
                <a16:creationId xmlns:a16="http://schemas.microsoft.com/office/drawing/2014/main" id="{4CD200BF-40C1-7596-2DB3-6B479158E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402" y="4234563"/>
            <a:ext cx="2670047" cy="642461"/>
          </a:xfrm>
          <a:prstGeom prst="rect">
            <a:avLst/>
          </a:prstGeom>
        </p:spPr>
      </p:pic>
      <p:pic>
        <p:nvPicPr>
          <p:cNvPr id="13" name="Kuva 12" descr="Kuva, joka sisältää kohteen teksti, kuvakaappaus, Fontti, ohjelmisto&#10;&#10;Tekoälyllä luotu sisältö voi olla virheellistä.">
            <a:extLst>
              <a:ext uri="{FF2B5EF4-FFF2-40B4-BE49-F238E27FC236}">
                <a16:creationId xmlns:a16="http://schemas.microsoft.com/office/drawing/2014/main" id="{F7A8BA55-A5D5-7298-B76A-184BA37EB8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3556712"/>
            <a:ext cx="2670048" cy="1993999"/>
          </a:xfrm>
          <a:prstGeom prst="rect">
            <a:avLst/>
          </a:prstGeom>
        </p:spPr>
      </p:pic>
      <p:sp>
        <p:nvSpPr>
          <p:cNvPr id="98" name="Rectangle 93">
            <a:extLst>
              <a:ext uri="{FF2B5EF4-FFF2-40B4-BE49-F238E27FC236}">
                <a16:creationId xmlns:a16="http://schemas.microsoft.com/office/drawing/2014/main" id="{C19AF72D-FA27-852B-3726-B5A28FCAB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A8F6ABA-8D61-0FD2-DD2E-7583F9B69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96768" y="3817404"/>
            <a:ext cx="54864" cy="45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684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D0535-E424-D86B-077A-A3F9F1D5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AE3C9ED8-89C9-5803-BFED-434B652C7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8408"/>
            <a:ext cx="3721608" cy="1106424"/>
          </a:xfrm>
        </p:spPr>
        <p:txBody>
          <a:bodyPr>
            <a:normAutofit/>
          </a:bodyPr>
          <a:lstStyle/>
          <a:p>
            <a:r>
              <a:rPr lang="fi-FI" sz="2800"/>
              <a:t>Nopeimmat algoritmit</a:t>
            </a:r>
            <a:br>
              <a:rPr lang="fi-FI" sz="2800"/>
            </a:br>
            <a:endParaRPr lang="fi-FI" sz="280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CC040DC-AAC9-25BB-D866-83DDF0FC2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8296"/>
            <a:ext cx="3721608" cy="3502152"/>
          </a:xfrm>
        </p:spPr>
        <p:txBody>
          <a:bodyPr>
            <a:normAutofit/>
          </a:bodyPr>
          <a:lstStyle/>
          <a:p>
            <a:r>
              <a:rPr lang="fi-FI" sz="1400" b="1" dirty="0"/>
              <a:t>Shell </a:t>
            </a:r>
            <a:r>
              <a:rPr lang="fi-FI" sz="1400" b="1" dirty="0" err="1"/>
              <a:t>Sort</a:t>
            </a:r>
            <a:r>
              <a:rPr lang="fi-FI" sz="1400" b="1" dirty="0"/>
              <a:t> </a:t>
            </a:r>
          </a:p>
          <a:p>
            <a:r>
              <a:rPr lang="fi-FI" sz="1400" dirty="0"/>
              <a:t>Nopeus yleisesti ottaen 0(n </a:t>
            </a:r>
            <a:r>
              <a:rPr lang="fi-FI" sz="1400" dirty="0" err="1"/>
              <a:t>log</a:t>
            </a:r>
            <a:r>
              <a:rPr lang="fi-FI" sz="1400" dirty="0"/>
              <a:t>(n)) </a:t>
            </a:r>
          </a:p>
          <a:p>
            <a:r>
              <a:rPr lang="fi-FI" sz="1400" dirty="0"/>
              <a:t>Toiminta: Shell </a:t>
            </a:r>
            <a:r>
              <a:rPr lang="fi-FI" sz="1400" dirty="0" err="1"/>
              <a:t>Sort</a:t>
            </a:r>
            <a:r>
              <a:rPr lang="fi-FI" sz="1400" dirty="0"/>
              <a:t> on kehittyneempi versio </a:t>
            </a:r>
            <a:r>
              <a:rPr lang="fi-FI" sz="1400" dirty="0" err="1"/>
              <a:t>Insertion</a:t>
            </a:r>
            <a:r>
              <a:rPr lang="fi-FI" sz="1400" dirty="0"/>
              <a:t> Sortista. Shell Sortin järjestämisalgoritmi toimii isommalla skaalalla, kun </a:t>
            </a:r>
            <a:r>
              <a:rPr lang="fi-FI" sz="1400" dirty="0" err="1"/>
              <a:t>Insertion</a:t>
            </a:r>
            <a:r>
              <a:rPr lang="fi-FI" sz="1400" dirty="0"/>
              <a:t> </a:t>
            </a:r>
            <a:r>
              <a:rPr lang="fi-FI" sz="1400" dirty="0" err="1"/>
              <a:t>Sort</a:t>
            </a:r>
            <a:r>
              <a:rPr lang="fi-FI" sz="1400" dirty="0"/>
              <a:t> vertailee jokaisen alkion kohdalla.</a:t>
            </a:r>
          </a:p>
          <a:p>
            <a:r>
              <a:rPr lang="fi-FI" sz="1400" dirty="0"/>
              <a:t>16ms (100 000)</a:t>
            </a:r>
          </a:p>
        </p:txBody>
      </p:sp>
      <p:pic>
        <p:nvPicPr>
          <p:cNvPr id="8" name="Kuva 7" descr="Kuva, joka sisältää kohteen teksti, kuvakaappaus, ohjelmisto&#10;&#10;Tekoälyllä luotu sisältö voi olla virheellistä.">
            <a:extLst>
              <a:ext uri="{FF2B5EF4-FFF2-40B4-BE49-F238E27FC236}">
                <a16:creationId xmlns:a16="http://schemas.microsoft.com/office/drawing/2014/main" id="{AA60D52E-1EFE-9F0F-403A-996C57C90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805" y="633615"/>
            <a:ext cx="2729275" cy="2688336"/>
          </a:xfrm>
          <a:prstGeom prst="rect">
            <a:avLst/>
          </a:prstGeom>
        </p:spPr>
      </p:pic>
      <p:pic>
        <p:nvPicPr>
          <p:cNvPr id="7" name="Kuva 6" descr="Kuva, joka sisältää kohteen teksti, Fontti, kuvakaappaus, muotoilu&#10;&#10;Tekoälyllä luotu sisältö voi olla virheellistä.">
            <a:extLst>
              <a:ext uri="{FF2B5EF4-FFF2-40B4-BE49-F238E27FC236}">
                <a16:creationId xmlns:a16="http://schemas.microsoft.com/office/drawing/2014/main" id="{7706C0CA-83B9-616E-38A5-1A77FA54F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492" y="633617"/>
            <a:ext cx="3043196" cy="2688336"/>
          </a:xfrm>
          <a:prstGeom prst="rect">
            <a:avLst/>
          </a:prstGeom>
        </p:spPr>
      </p:pic>
      <p:pic>
        <p:nvPicPr>
          <p:cNvPr id="12" name="Kuva 11" descr="Kuva, joka sisältää kohteen teksti, kuvakaappaus, Fontti, diagrammi&#10;&#10;Tekoälyllä luotu sisältö voi olla virheellistä.">
            <a:extLst>
              <a:ext uri="{FF2B5EF4-FFF2-40B4-BE49-F238E27FC236}">
                <a16:creationId xmlns:a16="http://schemas.microsoft.com/office/drawing/2014/main" id="{2A8E6DB6-F95A-0414-D476-C899A5690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832" y="3436664"/>
            <a:ext cx="2395224" cy="2691264"/>
          </a:xfrm>
          <a:prstGeom prst="rect">
            <a:avLst/>
          </a:prstGeom>
        </p:spPr>
      </p:pic>
      <p:pic>
        <p:nvPicPr>
          <p:cNvPr id="5" name="Kuva 4" descr="Kuva, joka sisältää kohteen kuvakaappaus&#10;&#10;Tekoälyllä luotu sisältö voi olla virheellistä.">
            <a:extLst>
              <a:ext uri="{FF2B5EF4-FFF2-40B4-BE49-F238E27FC236}">
                <a16:creationId xmlns:a16="http://schemas.microsoft.com/office/drawing/2014/main" id="{A5BD3B0A-BC2C-BEEB-394B-9BB42EF04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914" y="3822568"/>
            <a:ext cx="3248352" cy="191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842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4257F-A669-9280-EE24-2FA9F0A53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2" name="Rectangle 141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FB11D07D-A036-B76B-252B-C3B83F76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anchor="b">
            <a:normAutofit/>
          </a:bodyPr>
          <a:lstStyle/>
          <a:p>
            <a:r>
              <a:rPr lang="fi-FI" sz="4200"/>
              <a:t>Nopeimmat algoritmit</a:t>
            </a:r>
            <a:br>
              <a:rPr lang="fi-FI" sz="4200"/>
            </a:br>
            <a:endParaRPr lang="fi-FI" sz="4200"/>
          </a:p>
        </p:txBody>
      </p:sp>
      <p:sp>
        <p:nvSpPr>
          <p:cNvPr id="144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08D67B3-669F-95C2-AF09-8276FB818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167"/>
            <a:ext cx="3895522" cy="3386399"/>
          </a:xfrm>
        </p:spPr>
        <p:txBody>
          <a:bodyPr>
            <a:normAutofit fontScale="92500" lnSpcReduction="10000"/>
          </a:bodyPr>
          <a:lstStyle/>
          <a:p>
            <a:r>
              <a:rPr lang="fi-FI" sz="2000" b="1" dirty="0" err="1"/>
              <a:t>Quick</a:t>
            </a:r>
            <a:r>
              <a:rPr lang="fi-FI" sz="2000" b="1" dirty="0"/>
              <a:t> </a:t>
            </a:r>
            <a:r>
              <a:rPr lang="fi-FI" sz="2000" b="1" dirty="0" err="1"/>
              <a:t>Sort</a:t>
            </a:r>
            <a:r>
              <a:rPr lang="fi-FI" sz="2000" b="1" dirty="0"/>
              <a:t> </a:t>
            </a:r>
          </a:p>
          <a:p>
            <a:r>
              <a:rPr lang="fi-FI" sz="2000" dirty="0"/>
              <a:t>Nopeus yleisesti ottaen </a:t>
            </a:r>
            <a:r>
              <a:rPr lang="fi-FI" sz="2100" dirty="0"/>
              <a:t>O(n)</a:t>
            </a:r>
          </a:p>
          <a:p>
            <a:r>
              <a:rPr lang="fi-FI" sz="2000" dirty="0"/>
              <a:t>Toiminta: Kaksiosainen järjestämisalgoritmi. </a:t>
            </a:r>
            <a:r>
              <a:rPr lang="fi-FI" sz="2000" dirty="0" err="1"/>
              <a:t>Quick</a:t>
            </a:r>
            <a:r>
              <a:rPr lang="fi-FI" sz="2000" dirty="0"/>
              <a:t> Sortin avainprosessi on </a:t>
            </a:r>
            <a:r>
              <a:rPr lang="fi-FI" sz="2000" dirty="0" err="1"/>
              <a:t>osiointi</a:t>
            </a:r>
            <a:r>
              <a:rPr lang="fi-FI" sz="2000" dirty="0"/>
              <a:t>(). Kolmesta yleisestä vaihtoehdosta, tässä on käytetty </a:t>
            </a:r>
            <a:r>
              <a:rPr lang="fi-FI" sz="2000" dirty="0" err="1"/>
              <a:t>Lomuton</a:t>
            </a:r>
            <a:r>
              <a:rPr lang="fi-FI" sz="2000" dirty="0"/>
              <a:t> </a:t>
            </a:r>
            <a:r>
              <a:rPr lang="fi-FI" sz="2000" dirty="0" err="1"/>
              <a:t>osiointikaavaa</a:t>
            </a:r>
            <a:r>
              <a:rPr lang="fi-FI" sz="2000" dirty="0"/>
              <a:t>. Pivot </a:t>
            </a:r>
            <a:r>
              <a:rPr lang="fi-FI" sz="2000" dirty="0" err="1"/>
              <a:t>point</a:t>
            </a:r>
            <a:r>
              <a:rPr lang="fi-FI" sz="2000" dirty="0"/>
              <a:t> viimeinen alkio, vaihtaa (swap) pienemmät alkiot vasemmalle puolelle.</a:t>
            </a:r>
          </a:p>
          <a:p>
            <a:r>
              <a:rPr lang="fi-FI" sz="2000" dirty="0"/>
              <a:t>13ms (100 000)</a:t>
            </a:r>
          </a:p>
        </p:txBody>
      </p:sp>
      <p:pic>
        <p:nvPicPr>
          <p:cNvPr id="6" name="Kuva 5" descr="Kuva, joka sisältää kohteen teksti, kuvakaappaus, ohjelmisto, näyttö&#10;&#10;Tekoälyllä luotu sisältö voi olla virheellistä.">
            <a:extLst>
              <a:ext uri="{FF2B5EF4-FFF2-40B4-BE49-F238E27FC236}">
                <a16:creationId xmlns:a16="http://schemas.microsoft.com/office/drawing/2014/main" id="{3937EADC-1049-5771-6029-CCAC97499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614" y="164592"/>
            <a:ext cx="2531836" cy="3456432"/>
          </a:xfrm>
          <a:prstGeom prst="rect">
            <a:avLst/>
          </a:prstGeom>
        </p:spPr>
      </p:pic>
      <p:pic>
        <p:nvPicPr>
          <p:cNvPr id="13" name="Kuva 12" descr="Kuva, joka sisältää kohteen teksti, kuvakaappaus, viiva, diagrammi&#10;&#10;Tekoälyllä luotu sisältö voi olla virheellistä.">
            <a:extLst>
              <a:ext uri="{FF2B5EF4-FFF2-40B4-BE49-F238E27FC236}">
                <a16:creationId xmlns:a16="http://schemas.microsoft.com/office/drawing/2014/main" id="{63769D4F-6990-FE4A-A7E3-CB05B8040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525279"/>
            <a:ext cx="3785616" cy="1921200"/>
          </a:xfrm>
          <a:prstGeom prst="rect">
            <a:avLst/>
          </a:prstGeom>
        </p:spPr>
      </p:pic>
      <p:pic>
        <p:nvPicPr>
          <p:cNvPr id="10" name="Kuva 9" descr="Kuva, joka sisältää kohteen teksti, kuvakaappaus, numero, diagrammi&#10;&#10;Tekoälyllä luotu sisältö voi olla virheellistä.">
            <a:extLst>
              <a:ext uri="{FF2B5EF4-FFF2-40B4-BE49-F238E27FC236}">
                <a16:creationId xmlns:a16="http://schemas.microsoft.com/office/drawing/2014/main" id="{200C4650-A2F1-83E5-AAF7-60A2572B5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4169218"/>
            <a:ext cx="3099816" cy="1650651"/>
          </a:xfrm>
          <a:prstGeom prst="rect">
            <a:avLst/>
          </a:prstGeom>
        </p:spPr>
      </p:pic>
      <p:pic>
        <p:nvPicPr>
          <p:cNvPr id="7" name="Kuva 6" descr="Kuva, joka sisältää kohteen teksti, Fontti, kuvakaappaus, muotoilu&#10;&#10;Tekoälyllä luotu sisältö voi olla virheellistä.">
            <a:extLst>
              <a:ext uri="{FF2B5EF4-FFF2-40B4-BE49-F238E27FC236}">
                <a16:creationId xmlns:a16="http://schemas.microsoft.com/office/drawing/2014/main" id="{AB4354DB-AE04-71A3-4ABE-B695844C4F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153" y="2971759"/>
            <a:ext cx="3647085" cy="32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36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B9C8E-032F-02A6-889E-A04A2DDF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7" name="Rectangle 166">
            <a:extLst>
              <a:ext uri="{FF2B5EF4-FFF2-40B4-BE49-F238E27FC236}">
                <a16:creationId xmlns:a16="http://schemas.microsoft.com/office/drawing/2014/main" id="{99E115D7-68EB-4590-9BD1-A56D94144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2BCC8F1A-63D7-455B-821D-FF5B28BA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6996"/>
            <a:ext cx="5344742" cy="1670984"/>
          </a:xfrm>
        </p:spPr>
        <p:txBody>
          <a:bodyPr anchor="b">
            <a:normAutofit/>
          </a:bodyPr>
          <a:lstStyle/>
          <a:p>
            <a:r>
              <a:rPr lang="fi-FI" sz="4000"/>
              <a:t>Nopeimmat algoritmit</a:t>
            </a:r>
            <a:br>
              <a:rPr lang="fi-FI" sz="4000"/>
            </a:br>
            <a:endParaRPr lang="fi-FI" sz="400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3078033-B449-DDC1-A2BA-D61EC49DA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99719"/>
            <a:ext cx="5006872" cy="3717942"/>
          </a:xfrm>
        </p:spPr>
        <p:txBody>
          <a:bodyPr>
            <a:normAutofit lnSpcReduction="10000"/>
          </a:bodyPr>
          <a:lstStyle/>
          <a:p>
            <a:r>
              <a:rPr lang="fi-FI" sz="2000" b="1" dirty="0" err="1"/>
              <a:t>Merge</a:t>
            </a:r>
            <a:r>
              <a:rPr lang="fi-FI" sz="2000" b="1" dirty="0"/>
              <a:t> </a:t>
            </a:r>
            <a:r>
              <a:rPr lang="fi-FI" sz="2000" b="1" dirty="0" err="1"/>
              <a:t>Sort</a:t>
            </a:r>
            <a:r>
              <a:rPr lang="fi-FI" sz="2000" b="1" dirty="0"/>
              <a:t> </a:t>
            </a:r>
          </a:p>
          <a:p>
            <a:r>
              <a:rPr lang="fi-FI" sz="2000" dirty="0"/>
              <a:t>Nopeus yleisesti ottaen O(n)</a:t>
            </a:r>
          </a:p>
          <a:p>
            <a:r>
              <a:rPr lang="fi-FI" sz="2000" dirty="0"/>
              <a:t>Toiminta: Käyttää </a:t>
            </a:r>
            <a:r>
              <a:rPr lang="fi-FI" sz="2000" dirty="0" err="1"/>
              <a:t>Hajoita</a:t>
            </a:r>
            <a:r>
              <a:rPr lang="fi-FI" sz="2000" dirty="0"/>
              <a:t> ja Hallitse-ratkaisua. Jakaa keskeltä kaksi alkiota kahteen </a:t>
            </a:r>
            <a:r>
              <a:rPr lang="fi-FI" sz="2000" dirty="0" err="1"/>
              <a:t>unsorted</a:t>
            </a:r>
            <a:r>
              <a:rPr lang="fi-FI" sz="2000" dirty="0"/>
              <a:t> </a:t>
            </a:r>
            <a:r>
              <a:rPr lang="fi-FI" sz="2000" dirty="0" err="1"/>
              <a:t>arrayhyn</a:t>
            </a:r>
            <a:r>
              <a:rPr lang="fi-FI" sz="2000" dirty="0"/>
              <a:t> niin kauan kunnes ei pysty enää jakamaan-&gt; vasemmalle pienempi ja oikealle isompi -&gt; tehdään uusi vertailu ja lisätään molempien </a:t>
            </a:r>
            <a:r>
              <a:rPr lang="fi-FI" sz="2000" dirty="0" err="1"/>
              <a:t>subarrayn</a:t>
            </a:r>
            <a:r>
              <a:rPr lang="fi-FI" sz="2000" dirty="0"/>
              <a:t> alkiot yhteen, järjestellään lopuksi järjestettynä </a:t>
            </a:r>
            <a:r>
              <a:rPr lang="fi-FI" sz="2000" dirty="0" err="1"/>
              <a:t>Sorted</a:t>
            </a:r>
            <a:r>
              <a:rPr lang="fi-FI" sz="2000" dirty="0"/>
              <a:t> </a:t>
            </a:r>
            <a:r>
              <a:rPr lang="fi-FI" sz="2000" dirty="0" err="1"/>
              <a:t>Arrayhyn</a:t>
            </a:r>
            <a:r>
              <a:rPr lang="fi-FI" sz="2000" dirty="0"/>
              <a:t>.</a:t>
            </a:r>
          </a:p>
          <a:p>
            <a:r>
              <a:rPr lang="fi-FI" sz="2000" dirty="0"/>
              <a:t>14ms (100 000)</a:t>
            </a:r>
          </a:p>
        </p:txBody>
      </p:sp>
      <p:pic>
        <p:nvPicPr>
          <p:cNvPr id="7" name="Kuva 6" descr="Kuva, joka sisältää kohteen teksti, Fontti, kuvakaappaus, muotoilu&#10;&#10;Tekoälyllä luotu sisältö voi olla virheellistä.">
            <a:extLst>
              <a:ext uri="{FF2B5EF4-FFF2-40B4-BE49-F238E27FC236}">
                <a16:creationId xmlns:a16="http://schemas.microsoft.com/office/drawing/2014/main" id="{5097EA49-364D-2FB8-9909-FD5F1FD42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447" y="677035"/>
            <a:ext cx="1652223" cy="1459560"/>
          </a:xfrm>
          <a:prstGeom prst="rect">
            <a:avLst/>
          </a:prstGeom>
        </p:spPr>
      </p:pic>
      <p:pic>
        <p:nvPicPr>
          <p:cNvPr id="12" name="Kuva 11" descr="Kuva, joka sisältää kohteen teksti, diagrammi, viiva, Suunnitelma&#10;&#10;Tekoälyllä luotu sisältö voi olla virheellistä.">
            <a:extLst>
              <a:ext uri="{FF2B5EF4-FFF2-40B4-BE49-F238E27FC236}">
                <a16:creationId xmlns:a16="http://schemas.microsoft.com/office/drawing/2014/main" id="{8978F46E-832A-16A0-8EF5-F73DD4498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120" y="4899610"/>
            <a:ext cx="2989197" cy="1479651"/>
          </a:xfrm>
          <a:prstGeom prst="rect">
            <a:avLst/>
          </a:prstGeom>
        </p:spPr>
      </p:pic>
      <p:pic>
        <p:nvPicPr>
          <p:cNvPr id="5" name="Kuva 4" descr="Kuva, joka sisältää kohteen teksti, kuvakaappaus, ohjelmisto, Käyttöjärjestelmä&#10;&#10;Tekoälyllä luotu sisältö voi olla virheellistä.">
            <a:extLst>
              <a:ext uri="{FF2B5EF4-FFF2-40B4-BE49-F238E27FC236}">
                <a16:creationId xmlns:a16="http://schemas.microsoft.com/office/drawing/2014/main" id="{A48915D2-8631-74A5-D6E0-A8F21834D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655" y="677035"/>
            <a:ext cx="2602662" cy="4050836"/>
          </a:xfrm>
          <a:prstGeom prst="rect">
            <a:avLst/>
          </a:prstGeom>
        </p:spPr>
      </p:pic>
      <p:pic>
        <p:nvPicPr>
          <p:cNvPr id="9" name="Kuva 8" descr="Kuva, joka sisältää kohteen teksti, kuvakaappaus, ohjelmisto, näyttö&#10;&#10;Tekoälyllä luotu sisältö voi olla virheellistä.">
            <a:extLst>
              <a:ext uri="{FF2B5EF4-FFF2-40B4-BE49-F238E27FC236}">
                <a16:creationId xmlns:a16="http://schemas.microsoft.com/office/drawing/2014/main" id="{5BC3E58D-3E94-D97D-719A-C43AD3B7B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0974" y="2399719"/>
            <a:ext cx="2936856" cy="405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35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8FCBD-C6C6-C529-F67D-BA9BA110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2" name="Rectangle 17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A7118E8E-E0CB-76E7-4560-98AE4A3B3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 fontScale="90000"/>
          </a:bodyPr>
          <a:lstStyle/>
          <a:p>
            <a:r>
              <a:rPr lang="fi-FI" sz="4000" dirty="0"/>
              <a:t>Modulaarinen rakenne</a:t>
            </a:r>
            <a:br>
              <a:rPr lang="fi-FI" sz="4000" dirty="0"/>
            </a:br>
            <a:r>
              <a:rPr lang="fi-FI" sz="4000" dirty="0"/>
              <a:t>Funktioreferenssi</a:t>
            </a:r>
            <a:br>
              <a:rPr lang="fi-FI" sz="4000" dirty="0"/>
            </a:br>
            <a:endParaRPr lang="fi-FI" sz="4000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70493EA-E731-84AB-18F6-A859D5F62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fi-FI" sz="2000" dirty="0"/>
              <a:t>Funktioreferensseillä saimme koodista tehtyä pienemmän paketin samoilla ominaisuuksilla.</a:t>
            </a:r>
          </a:p>
          <a:p>
            <a:r>
              <a:rPr lang="fi-FI" sz="2000" dirty="0" err="1"/>
              <a:t>FunctionPointeria</a:t>
            </a:r>
            <a:r>
              <a:rPr lang="fi-FI" sz="2000" dirty="0"/>
              <a:t> käyttämällä saadaan myös selkeämpi main. 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Kuva 5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51B6F655-613B-121B-F392-AAAC9A93C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526503"/>
            <a:ext cx="4170530" cy="383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1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97FA5-4062-6C3C-1CCA-4BBB41641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" name="Rectangle 204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2094884-898D-87CB-BF6C-10DC3332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/>
              <a:t>Modulaarinen rakenne</a:t>
            </a:r>
            <a:br>
              <a:rPr lang="en-US" sz="3000"/>
            </a:br>
            <a:r>
              <a:rPr lang="en-US" sz="3000"/>
              <a:t>Funktioreferenssi</a:t>
            </a:r>
            <a:br>
              <a:rPr lang="en-US" sz="3000"/>
            </a:br>
            <a:endParaRPr lang="en-US" sz="3000"/>
          </a:p>
        </p:txBody>
      </p:sp>
      <p:sp>
        <p:nvSpPr>
          <p:cNvPr id="207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3D4AE01-8F1F-01BC-6C9E-49E21C690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167"/>
            <a:ext cx="3895522" cy="338639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dirty="0" err="1"/>
              <a:t>Heräsi</a:t>
            </a:r>
            <a:r>
              <a:rPr lang="en-US" sz="2200" dirty="0"/>
              <a:t> </a:t>
            </a:r>
            <a:r>
              <a:rPr lang="en-US" sz="2200" dirty="0" err="1"/>
              <a:t>mielenkiinto</a:t>
            </a:r>
            <a:r>
              <a:rPr lang="en-US" sz="2200" dirty="0"/>
              <a:t> </a:t>
            </a:r>
            <a:r>
              <a:rPr lang="en-US" sz="2200" dirty="0" err="1"/>
              <a:t>voisiko</a:t>
            </a:r>
            <a:r>
              <a:rPr lang="en-US" sz="2200" dirty="0"/>
              <a:t> </a:t>
            </a:r>
            <a:r>
              <a:rPr lang="en-US" sz="2200" dirty="0" err="1"/>
              <a:t>iteroimalla</a:t>
            </a:r>
            <a:r>
              <a:rPr lang="en-US" sz="2200" dirty="0"/>
              <a:t> </a:t>
            </a:r>
            <a:r>
              <a:rPr lang="en-US" sz="2200" dirty="0" err="1"/>
              <a:t>saada</a:t>
            </a:r>
            <a:r>
              <a:rPr lang="en-US" sz="2200" dirty="0"/>
              <a:t> </a:t>
            </a:r>
            <a:r>
              <a:rPr lang="en-US" sz="2200" dirty="0" err="1"/>
              <a:t>heittoa</a:t>
            </a:r>
            <a:r>
              <a:rPr lang="en-US" sz="2200" dirty="0"/>
              <a:t> vs </a:t>
            </a:r>
            <a:r>
              <a:rPr lang="en-US" sz="2200" dirty="0" err="1"/>
              <a:t>yhden</a:t>
            </a:r>
            <a:r>
              <a:rPr lang="en-US" sz="2200" dirty="0"/>
              <a:t> </a:t>
            </a:r>
            <a:r>
              <a:rPr lang="en-US" sz="2200" dirty="0" err="1"/>
              <a:t>kierroksen</a:t>
            </a:r>
            <a:r>
              <a:rPr lang="en-US" sz="2200" dirty="0"/>
              <a:t> </a:t>
            </a:r>
            <a:r>
              <a:rPr lang="en-US" sz="2200" dirty="0" err="1"/>
              <a:t>funktioreferenssiin</a:t>
            </a:r>
            <a:r>
              <a:rPr lang="en-US" sz="2200" dirty="0"/>
              <a:t>. Olin </a:t>
            </a:r>
            <a:r>
              <a:rPr lang="en-US" sz="2200" dirty="0" err="1"/>
              <a:t>jopa</a:t>
            </a:r>
            <a:r>
              <a:rPr lang="en-US" sz="2200" dirty="0"/>
              <a:t> </a:t>
            </a:r>
            <a:r>
              <a:rPr lang="en-US" sz="2200" dirty="0" err="1"/>
              <a:t>yllättynyt</a:t>
            </a:r>
            <a:r>
              <a:rPr lang="en-US" sz="2200" dirty="0"/>
              <a:t>, </a:t>
            </a:r>
            <a:r>
              <a:rPr lang="en-US" sz="2200" dirty="0" err="1"/>
              <a:t>että</a:t>
            </a:r>
            <a:r>
              <a:rPr lang="en-US" sz="2200" dirty="0"/>
              <a:t> Insertion Sort on </a:t>
            </a:r>
            <a:r>
              <a:rPr lang="en-US" sz="2200" dirty="0" err="1"/>
              <a:t>nopeampi</a:t>
            </a:r>
            <a:r>
              <a:rPr lang="en-US" sz="2200" dirty="0"/>
              <a:t> </a:t>
            </a:r>
            <a:r>
              <a:rPr lang="en-US" sz="2200" dirty="0" err="1"/>
              <a:t>kahden</a:t>
            </a:r>
            <a:r>
              <a:rPr lang="en-US" sz="2200" dirty="0"/>
              <a:t> </a:t>
            </a:r>
            <a:r>
              <a:rPr lang="en-US" sz="2200" dirty="0" err="1"/>
              <a:t>iteraation</a:t>
            </a:r>
            <a:r>
              <a:rPr lang="en-US" sz="2200" dirty="0"/>
              <a:t> </a:t>
            </a:r>
            <a:r>
              <a:rPr lang="en-US" sz="2200" dirty="0" err="1"/>
              <a:t>jälkeen</a:t>
            </a:r>
            <a:r>
              <a:rPr lang="en-US" sz="2200" dirty="0"/>
              <a:t>. </a:t>
            </a:r>
            <a:r>
              <a:rPr lang="en-US" sz="2200" dirty="0" err="1"/>
              <a:t>Ilmeisesti</a:t>
            </a:r>
            <a:r>
              <a:rPr lang="en-US" sz="2200" dirty="0"/>
              <a:t> </a:t>
            </a:r>
            <a:r>
              <a:rPr lang="en-US" sz="2200" dirty="0" err="1"/>
              <a:t>kyseessä</a:t>
            </a:r>
            <a:r>
              <a:rPr lang="en-US" sz="2200" dirty="0"/>
              <a:t> on </a:t>
            </a:r>
            <a:r>
              <a:rPr lang="en-US" sz="2200" dirty="0" err="1"/>
              <a:t>tietokoneen</a:t>
            </a:r>
            <a:r>
              <a:rPr lang="en-US" sz="2200" dirty="0"/>
              <a:t> </a:t>
            </a:r>
            <a:r>
              <a:rPr lang="en-US" sz="2200" dirty="0" err="1"/>
              <a:t>pieni</a:t>
            </a:r>
            <a:r>
              <a:rPr lang="en-US" sz="2200" dirty="0"/>
              <a:t> </a:t>
            </a:r>
            <a:r>
              <a:rPr lang="en-US" sz="2200" dirty="0" err="1"/>
              <a:t>herättely</a:t>
            </a:r>
            <a:r>
              <a:rPr lang="en-US" sz="2200" dirty="0"/>
              <a:t>, </a:t>
            </a:r>
            <a:r>
              <a:rPr lang="en-US" sz="2200" dirty="0" err="1"/>
              <a:t>joka</a:t>
            </a:r>
            <a:r>
              <a:rPr lang="en-US" sz="2200" dirty="0"/>
              <a:t> </a:t>
            </a:r>
            <a:r>
              <a:rPr lang="en-US" sz="2200" dirty="0" err="1"/>
              <a:t>nopeutuu</a:t>
            </a:r>
            <a:r>
              <a:rPr lang="en-US" sz="2200" dirty="0"/>
              <a:t> </a:t>
            </a:r>
            <a:r>
              <a:rPr lang="en-US" sz="2200" dirty="0" err="1"/>
              <a:t>kahden</a:t>
            </a:r>
            <a:r>
              <a:rPr lang="en-US" sz="2200" dirty="0"/>
              <a:t> </a:t>
            </a:r>
            <a:r>
              <a:rPr lang="en-US" sz="2200" dirty="0" err="1"/>
              <a:t>kierroksen</a:t>
            </a:r>
            <a:r>
              <a:rPr lang="en-US" sz="2200" dirty="0"/>
              <a:t> </a:t>
            </a:r>
            <a:r>
              <a:rPr lang="en-US" sz="2200" dirty="0" err="1"/>
              <a:t>jälkeen</a:t>
            </a:r>
            <a:r>
              <a:rPr lang="en-US" sz="2200" dirty="0"/>
              <a:t>. </a:t>
            </a:r>
          </a:p>
        </p:txBody>
      </p:sp>
      <p:pic>
        <p:nvPicPr>
          <p:cNvPr id="10" name="Kuva 9" descr="Kuva, joka sisältää kohteen teksti, kuvakaappaus, Fontti, muotoilu&#10;&#10;Tekoälyllä luotu sisältö voi olla virheellistä.">
            <a:extLst>
              <a:ext uri="{FF2B5EF4-FFF2-40B4-BE49-F238E27FC236}">
                <a16:creationId xmlns:a16="http://schemas.microsoft.com/office/drawing/2014/main" id="{42D048F5-0A72-A651-96AC-3B07442A0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657106"/>
            <a:ext cx="3099816" cy="2471403"/>
          </a:xfrm>
          <a:prstGeom prst="rect">
            <a:avLst/>
          </a:prstGeom>
        </p:spPr>
      </p:pic>
      <p:pic>
        <p:nvPicPr>
          <p:cNvPr id="8" name="Kuva 7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2C3DF841-650F-BBC1-94FA-2A957D331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28756"/>
            <a:ext cx="3785616" cy="1514246"/>
          </a:xfrm>
          <a:prstGeom prst="rect">
            <a:avLst/>
          </a:prstGeom>
        </p:spPr>
      </p:pic>
      <p:pic>
        <p:nvPicPr>
          <p:cNvPr id="5" name="Kuva 4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B09A3B62-1F43-F764-3853-74197E2ED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4161468"/>
            <a:ext cx="3099816" cy="1666151"/>
          </a:xfrm>
          <a:prstGeom prst="rect">
            <a:avLst/>
          </a:prstGeom>
        </p:spPr>
      </p:pic>
      <p:pic>
        <p:nvPicPr>
          <p:cNvPr id="12" name="Kuva 11" descr="Kuva, joka sisältää kohteen teksti, kuvakaappaus, Fontti, muotoilu&#10;&#10;Tekoälyllä luotu sisältö voi olla virheellistä.">
            <a:extLst>
              <a:ext uri="{FF2B5EF4-FFF2-40B4-BE49-F238E27FC236}">
                <a16:creationId xmlns:a16="http://schemas.microsoft.com/office/drawing/2014/main" id="{2B55F9C8-D1FB-1EC7-9D19-EF67424EE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3319139"/>
            <a:ext cx="3785616" cy="252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88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DA991-7776-B94E-6187-B32715044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FE49EC1E-6090-ED11-168D-0F5A66556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BenchmarkDotNet</a:t>
            </a: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399B90E-1518-C89B-21D5-224560D28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00" dirty="0" err="1"/>
              <a:t>Ajoin</a:t>
            </a:r>
            <a:r>
              <a:rPr lang="en-US" sz="1700" dirty="0"/>
              <a:t> </a:t>
            </a:r>
            <a:r>
              <a:rPr lang="en-US" sz="1700" dirty="0" err="1"/>
              <a:t>myös</a:t>
            </a:r>
            <a:r>
              <a:rPr lang="en-US" sz="1700" dirty="0"/>
              <a:t> </a:t>
            </a:r>
            <a:r>
              <a:rPr lang="en-US" sz="1700" dirty="0" err="1"/>
              <a:t>vertailun</a:t>
            </a:r>
            <a:r>
              <a:rPr lang="en-US" sz="1700" dirty="0"/>
              <a:t> </a:t>
            </a:r>
            <a:r>
              <a:rPr lang="en-US" sz="1700" dirty="0" err="1"/>
              <a:t>vuoksi</a:t>
            </a:r>
            <a:r>
              <a:rPr lang="en-US" sz="1700" dirty="0"/>
              <a:t> </a:t>
            </a:r>
            <a:r>
              <a:rPr lang="en-US" sz="1700" dirty="0" err="1"/>
              <a:t>BenchmarkDotNetin</a:t>
            </a:r>
            <a:r>
              <a:rPr lang="en-US" sz="1700" dirty="0"/>
              <a:t> C# </a:t>
            </a:r>
            <a:r>
              <a:rPr lang="en-US" sz="1700" dirty="0" err="1"/>
              <a:t>nopeustestin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r>
              <a:rPr lang="en-US" sz="1700" dirty="0" err="1"/>
              <a:t>Tässä</a:t>
            </a:r>
            <a:r>
              <a:rPr lang="en-US" sz="1700" dirty="0"/>
              <a:t> </a:t>
            </a:r>
            <a:r>
              <a:rPr lang="en-US" sz="1700" dirty="0" err="1"/>
              <a:t>näkee</a:t>
            </a:r>
            <a:r>
              <a:rPr lang="en-US" sz="1700" dirty="0"/>
              <a:t> </a:t>
            </a:r>
            <a:r>
              <a:rPr lang="en-US" sz="1700" dirty="0" err="1"/>
              <a:t>selkeästi</a:t>
            </a:r>
            <a:r>
              <a:rPr lang="en-US" sz="1700" dirty="0"/>
              <a:t> </a:t>
            </a:r>
            <a:r>
              <a:rPr lang="en-US" sz="1700" dirty="0" err="1"/>
              <a:t>kuinka</a:t>
            </a:r>
            <a:r>
              <a:rPr lang="en-US" sz="1700" dirty="0"/>
              <a:t> </a:t>
            </a:r>
            <a:r>
              <a:rPr lang="en-US" sz="1700" dirty="0" err="1"/>
              <a:t>BubbleSortin</a:t>
            </a:r>
            <a:r>
              <a:rPr lang="en-US" sz="1700" dirty="0"/>
              <a:t> </a:t>
            </a:r>
            <a:r>
              <a:rPr lang="en-US" sz="1700" dirty="0" err="1"/>
              <a:t>aika</a:t>
            </a:r>
            <a:r>
              <a:rPr lang="en-US" sz="1700" dirty="0"/>
              <a:t> </a:t>
            </a:r>
            <a:r>
              <a:rPr lang="en-US" sz="1700" dirty="0" err="1"/>
              <a:t>nelinkertaistuu</a:t>
            </a:r>
            <a:r>
              <a:rPr lang="en-US" sz="1700" dirty="0"/>
              <a:t>, </a:t>
            </a:r>
            <a:r>
              <a:rPr lang="en-US" sz="1700" dirty="0" err="1"/>
              <a:t>kun</a:t>
            </a:r>
            <a:r>
              <a:rPr lang="en-US" sz="1700" dirty="0"/>
              <a:t> N </a:t>
            </a:r>
            <a:r>
              <a:rPr lang="en-US" sz="1700" dirty="0" err="1"/>
              <a:t>tuplaantuu</a:t>
            </a:r>
            <a:r>
              <a:rPr lang="en-US" sz="1700" dirty="0"/>
              <a:t>. Eli se on </a:t>
            </a:r>
            <a:r>
              <a:rPr lang="en-US" sz="1700" dirty="0" err="1"/>
              <a:t>selkeästi</a:t>
            </a:r>
            <a:r>
              <a:rPr lang="en-US" sz="1700" dirty="0"/>
              <a:t> 0(n^2)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 err="1"/>
              <a:t>Ohjeet</a:t>
            </a:r>
            <a:r>
              <a:rPr lang="en-US" sz="1700" dirty="0"/>
              <a:t> </a:t>
            </a:r>
            <a:r>
              <a:rPr lang="en-US" sz="1700" dirty="0" err="1"/>
              <a:t>tähän</a:t>
            </a:r>
            <a:r>
              <a:rPr lang="en-US" sz="1700" dirty="0"/>
              <a:t> </a:t>
            </a:r>
            <a:r>
              <a:rPr lang="en-US" sz="1700" dirty="0" err="1"/>
              <a:t>löytyvät</a:t>
            </a:r>
            <a:r>
              <a:rPr lang="en-US" sz="1700" dirty="0"/>
              <a:t>:</a:t>
            </a:r>
          </a:p>
          <a:p>
            <a:pPr marL="0" indent="0">
              <a:buNone/>
            </a:pPr>
            <a:r>
              <a:rPr lang="en-US" sz="1700" dirty="0">
                <a:hlinkClick r:id="rId2" action="ppaction://hlinksldjump"/>
              </a:rPr>
              <a:t>https://medium.com/@anderson.meneses/understanding-sorting-algorithms-a-benchmarking-approach-with-b3r3ch1tsortingbenchmark-e810f7bc2c49 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br>
              <a:rPr lang="en-US" sz="1700" dirty="0"/>
            </a:br>
            <a:br>
              <a:rPr lang="en-US" sz="1700" dirty="0"/>
            </a:br>
            <a:endParaRPr lang="en-US" sz="1700" dirty="0"/>
          </a:p>
        </p:txBody>
      </p:sp>
      <p:pic>
        <p:nvPicPr>
          <p:cNvPr id="7" name="Kuva 6" descr="Kuva, joka sisältää kohteen teksti, kuvakaappaus&#10;&#10;Tekoälyllä luotu sisältö voi olla virheellistä.">
            <a:extLst>
              <a:ext uri="{FF2B5EF4-FFF2-40B4-BE49-F238E27FC236}">
                <a16:creationId xmlns:a16="http://schemas.microsoft.com/office/drawing/2014/main" id="{FD1EBBAE-3892-EF04-F3DC-6D8F5F32EB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000" r="31773"/>
          <a:stretch>
            <a:fillRect/>
          </a:stretch>
        </p:blipFill>
        <p:spPr>
          <a:xfrm>
            <a:off x="4883669" y="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cxnSp>
        <p:nvCxnSpPr>
          <p:cNvPr id="9" name="Suora yhdysviiva 8">
            <a:extLst>
              <a:ext uri="{FF2B5EF4-FFF2-40B4-BE49-F238E27FC236}">
                <a16:creationId xmlns:a16="http://schemas.microsoft.com/office/drawing/2014/main" id="{D23541F7-69B2-EFB5-60D1-3C7547C58D15}"/>
              </a:ext>
            </a:extLst>
          </p:cNvPr>
          <p:cNvCxnSpPr/>
          <p:nvPr/>
        </p:nvCxnSpPr>
        <p:spPr>
          <a:xfrm>
            <a:off x="5695123" y="1204398"/>
            <a:ext cx="384644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uora yhdysviiva 9">
            <a:extLst>
              <a:ext uri="{FF2B5EF4-FFF2-40B4-BE49-F238E27FC236}">
                <a16:creationId xmlns:a16="http://schemas.microsoft.com/office/drawing/2014/main" id="{BA2DD4D2-A872-4BC5-0511-0C77CFF9E514}"/>
              </a:ext>
            </a:extLst>
          </p:cNvPr>
          <p:cNvCxnSpPr/>
          <p:nvPr/>
        </p:nvCxnSpPr>
        <p:spPr>
          <a:xfrm>
            <a:off x="5695122" y="2370589"/>
            <a:ext cx="384644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uora yhdysviiva 10">
            <a:extLst>
              <a:ext uri="{FF2B5EF4-FFF2-40B4-BE49-F238E27FC236}">
                <a16:creationId xmlns:a16="http://schemas.microsoft.com/office/drawing/2014/main" id="{7D7A4FA0-DAB7-BF32-2E97-4FD04268DA24}"/>
              </a:ext>
            </a:extLst>
          </p:cNvPr>
          <p:cNvCxnSpPr/>
          <p:nvPr/>
        </p:nvCxnSpPr>
        <p:spPr>
          <a:xfrm>
            <a:off x="5695121" y="3513589"/>
            <a:ext cx="384644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uora yhdysviiva 11">
            <a:extLst>
              <a:ext uri="{FF2B5EF4-FFF2-40B4-BE49-F238E27FC236}">
                <a16:creationId xmlns:a16="http://schemas.microsoft.com/office/drawing/2014/main" id="{A5FD18C6-487F-D609-6645-AD5A6CABDD45}"/>
              </a:ext>
            </a:extLst>
          </p:cNvPr>
          <p:cNvCxnSpPr/>
          <p:nvPr/>
        </p:nvCxnSpPr>
        <p:spPr>
          <a:xfrm>
            <a:off x="5695120" y="4706285"/>
            <a:ext cx="384644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uora yhdysviiva 12">
            <a:extLst>
              <a:ext uri="{FF2B5EF4-FFF2-40B4-BE49-F238E27FC236}">
                <a16:creationId xmlns:a16="http://schemas.microsoft.com/office/drawing/2014/main" id="{15CD5E8E-D4B0-D8CF-83CD-664E1CD77A87}"/>
              </a:ext>
            </a:extLst>
          </p:cNvPr>
          <p:cNvCxnSpPr/>
          <p:nvPr/>
        </p:nvCxnSpPr>
        <p:spPr>
          <a:xfrm>
            <a:off x="5695120" y="5839346"/>
            <a:ext cx="384644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uora yhdysviiva 13">
            <a:extLst>
              <a:ext uri="{FF2B5EF4-FFF2-40B4-BE49-F238E27FC236}">
                <a16:creationId xmlns:a16="http://schemas.microsoft.com/office/drawing/2014/main" id="{D8EE2EBE-23AE-5D1F-F96E-CAC9286EA7E5}"/>
              </a:ext>
            </a:extLst>
          </p:cNvPr>
          <p:cNvCxnSpPr/>
          <p:nvPr/>
        </p:nvCxnSpPr>
        <p:spPr>
          <a:xfrm>
            <a:off x="5695120" y="969172"/>
            <a:ext cx="384644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uora yhdysviiva 14">
            <a:extLst>
              <a:ext uri="{FF2B5EF4-FFF2-40B4-BE49-F238E27FC236}">
                <a16:creationId xmlns:a16="http://schemas.microsoft.com/office/drawing/2014/main" id="{61B11B76-08B1-82DB-E675-C529304776A1}"/>
              </a:ext>
            </a:extLst>
          </p:cNvPr>
          <p:cNvCxnSpPr/>
          <p:nvPr/>
        </p:nvCxnSpPr>
        <p:spPr>
          <a:xfrm>
            <a:off x="5695119" y="5580928"/>
            <a:ext cx="384644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uora yhdysviiva 15">
            <a:extLst>
              <a:ext uri="{FF2B5EF4-FFF2-40B4-BE49-F238E27FC236}">
                <a16:creationId xmlns:a16="http://schemas.microsoft.com/office/drawing/2014/main" id="{D0501847-447C-D186-6EC1-CE49AA0BD708}"/>
              </a:ext>
            </a:extLst>
          </p:cNvPr>
          <p:cNvCxnSpPr/>
          <p:nvPr/>
        </p:nvCxnSpPr>
        <p:spPr>
          <a:xfrm>
            <a:off x="5695118" y="4408111"/>
            <a:ext cx="384644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uora yhdysviiva 16">
            <a:extLst>
              <a:ext uri="{FF2B5EF4-FFF2-40B4-BE49-F238E27FC236}">
                <a16:creationId xmlns:a16="http://schemas.microsoft.com/office/drawing/2014/main" id="{D3AEDFAC-2B6A-F0E1-1E5B-7FF6B1BE0711}"/>
              </a:ext>
            </a:extLst>
          </p:cNvPr>
          <p:cNvCxnSpPr/>
          <p:nvPr/>
        </p:nvCxnSpPr>
        <p:spPr>
          <a:xfrm>
            <a:off x="5695117" y="3314807"/>
            <a:ext cx="384644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uora yhdysviiva 17">
            <a:extLst>
              <a:ext uri="{FF2B5EF4-FFF2-40B4-BE49-F238E27FC236}">
                <a16:creationId xmlns:a16="http://schemas.microsoft.com/office/drawing/2014/main" id="{AE935DB2-024A-D242-4AC9-0D359B076D3E}"/>
              </a:ext>
            </a:extLst>
          </p:cNvPr>
          <p:cNvCxnSpPr/>
          <p:nvPr/>
        </p:nvCxnSpPr>
        <p:spPr>
          <a:xfrm>
            <a:off x="5695117" y="2112172"/>
            <a:ext cx="384644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813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e83a730-1a46-40ed-8797-1d2d98cac2d1}" enabled="0" method="" siteId="{8e83a730-1a46-40ed-8797-1d2d98cac2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886</Words>
  <Application>Microsoft Office PowerPoint</Application>
  <PresentationFormat>Laajakuva</PresentationFormat>
  <Paragraphs>81</Paragraphs>
  <Slides>15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Office-teema</vt:lpstr>
      <vt:lpstr>Tietorakenteet ja Algoritmit</vt:lpstr>
      <vt:lpstr>Tehtävänanto</vt:lpstr>
      <vt:lpstr>Tehtävänanto</vt:lpstr>
      <vt:lpstr>Tiedoston rakenne</vt:lpstr>
      <vt:lpstr>Bubble Sort</vt:lpstr>
      <vt:lpstr>Insertion Sort</vt:lpstr>
      <vt:lpstr>Selection Sort</vt:lpstr>
      <vt:lpstr>Nopeimmat algoritmit </vt:lpstr>
      <vt:lpstr>Nopeimmat algoritmit </vt:lpstr>
      <vt:lpstr>Nopeimmat algoritmit </vt:lpstr>
      <vt:lpstr>Nopeimmat algoritmit </vt:lpstr>
      <vt:lpstr>Nopeimmat algoritmit </vt:lpstr>
      <vt:lpstr>Modulaarinen rakenne Funktioreferenssi </vt:lpstr>
      <vt:lpstr>Modulaarinen rakenne Funktioreferenssi </vt:lpstr>
      <vt:lpstr>BenchmarkDotNet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Keskinen, Juho</dc:creator>
  <cp:lastModifiedBy>Keskinen, Juho</cp:lastModifiedBy>
  <cp:revision>2</cp:revision>
  <dcterms:created xsi:type="dcterms:W3CDTF">2026-01-30T15:53:05Z</dcterms:created>
  <dcterms:modified xsi:type="dcterms:W3CDTF">2026-01-30T20:35:34Z</dcterms:modified>
</cp:coreProperties>
</file>